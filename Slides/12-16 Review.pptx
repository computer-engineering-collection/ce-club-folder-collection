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043e0a44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043e0a44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043e0a44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043e0a44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043e0a44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043e0a44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043e0a44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043e0a44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080eba26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080eba26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080eba26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080eba26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043e0a44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043e0a44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043e0a44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043e0a44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043e0a44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043e0a44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043e0a44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043e0a44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043e0a44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043e0a44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080eba2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080eba2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043e0a44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b043e0a44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043e0a44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043e0a44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043e0a44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043e0a44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043e0a44a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b043e0a44a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080eba26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b080eba26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080eba26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080eba26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043e0a44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043e0a44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b043e0a44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b043e0a44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043e0a44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043e0a44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043e0a44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043e0a44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043e0a44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043e0a44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043e0a44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b043e0a44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043e0a44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043e0a44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043e0a44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b043e0a44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043e0a44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b043e0a44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043e0a44a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b043e0a44a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0de1cc2b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b0de1cc2b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b0de1cc2bc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b0de1cc2bc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043e0a44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b043e0a44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06d0143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b06d0143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06d0143fe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b06d0143f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06d0143fe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b06d0143fe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b06d0143fe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b06d0143fe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07c9101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b07c9101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07c91015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b07c91015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07c91015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b07c91015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07c91015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07c91015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07c91015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b07c91015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07c91015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07c91015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07c91015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b07c91015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07c91015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b07c91015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Review Full Semester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 a little bit of new information on caching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What do y’all remember about hardware?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Transistors/Logic Gates</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Transistors are the smallest part of a computer. There are many different types of transistors however cpus/gpus use cmos transistors. </a:t>
            </a:r>
            <a:endParaRPr/>
          </a:p>
          <a:p>
            <a:pPr indent="0" lvl="0" marL="0" rtl="0" algn="l">
              <a:spcBef>
                <a:spcPts val="1200"/>
              </a:spcBef>
              <a:spcAft>
                <a:spcPts val="0"/>
              </a:spcAft>
              <a:buNone/>
            </a:pPr>
            <a:r>
              <a:rPr lang="en"/>
              <a:t>Transistors work by holding a current of electricity at one terminal, and only allowing that current to flow to the opposite terminal when the middle terminal  </a:t>
            </a:r>
            <a:r>
              <a:rPr lang="en"/>
              <a:t>receives</a:t>
            </a:r>
            <a:r>
              <a:rPr lang="en"/>
              <a:t> a </a:t>
            </a:r>
            <a:r>
              <a:rPr lang="en"/>
              <a:t>sufficient</a:t>
            </a:r>
            <a:r>
              <a:rPr lang="en"/>
              <a:t> </a:t>
            </a:r>
            <a:r>
              <a:rPr lang="en"/>
              <a:t>amount</a:t>
            </a:r>
            <a:r>
              <a:rPr lang="en"/>
              <a:t> of current. </a:t>
            </a:r>
            <a:endParaRPr/>
          </a:p>
          <a:p>
            <a:pPr indent="0" lvl="0" marL="0" rtl="0" algn="l">
              <a:spcBef>
                <a:spcPts val="1200"/>
              </a:spcBef>
              <a:spcAft>
                <a:spcPts val="1200"/>
              </a:spcAft>
              <a:buNone/>
            </a:pPr>
            <a:r>
              <a:rPr lang="en"/>
              <a:t>Logic gates are collections of transistors that have been </a:t>
            </a:r>
            <a:r>
              <a:rPr lang="en"/>
              <a:t>organized</a:t>
            </a:r>
            <a:r>
              <a:rPr lang="en"/>
              <a:t> in a way to create very basic logical </a:t>
            </a:r>
            <a:r>
              <a:rPr lang="en"/>
              <a:t>concepts</a:t>
            </a:r>
            <a:r>
              <a:rPr lang="en"/>
              <a:t> such as OR, AND, and NOR.</a:t>
            </a:r>
            <a:endParaRPr/>
          </a:p>
        </p:txBody>
      </p:sp>
      <p:sp>
        <p:nvSpPr>
          <p:cNvPr id="67" name="Google Shape;67;p15"/>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Nikesh</a:t>
            </a:r>
            <a:endParaRPr sz="1800">
              <a:solidFill>
                <a:srgbClr val="D9D9D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Latch/Flip Flops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Latches are a hardware </a:t>
            </a:r>
            <a:r>
              <a:rPr lang="en"/>
              <a:t>construct that takes an input and feeds itself the same input until it is reset with a fresh input. </a:t>
            </a:r>
            <a:endParaRPr/>
          </a:p>
          <a:p>
            <a:pPr indent="0" lvl="0" marL="0" rtl="0" algn="l">
              <a:spcBef>
                <a:spcPts val="1200"/>
              </a:spcBef>
              <a:spcAft>
                <a:spcPts val="0"/>
              </a:spcAft>
              <a:buNone/>
            </a:pPr>
            <a:r>
              <a:rPr lang="en"/>
              <a:t>Latches have issues due to how basic they are however, such as difficult-to-work with delay, which is a delay error with changing the output and input signals.</a:t>
            </a:r>
            <a:endParaRPr/>
          </a:p>
          <a:p>
            <a:pPr indent="0" lvl="0" marL="0" rtl="0" algn="l">
              <a:spcBef>
                <a:spcPts val="1200"/>
              </a:spcBef>
              <a:spcAft>
                <a:spcPts val="0"/>
              </a:spcAft>
              <a:buNone/>
            </a:pPr>
            <a:r>
              <a:rPr lang="en"/>
              <a:t>Flip Flops aim to fix the problems that latches have by adding additional gates to fix the problems with latches.</a:t>
            </a:r>
            <a:endParaRPr/>
          </a:p>
          <a:p>
            <a:pPr indent="0" lvl="0" marL="0" rtl="0" algn="l">
              <a:spcBef>
                <a:spcPts val="1200"/>
              </a:spcBef>
              <a:spcAft>
                <a:spcPts val="1200"/>
              </a:spcAft>
              <a:buNone/>
            </a:pPr>
            <a:r>
              <a:rPr lang="en"/>
              <a:t>Both of these are sequential memory elements meaning that they store their inputs until changed. </a:t>
            </a:r>
            <a:endParaRPr/>
          </a:p>
        </p:txBody>
      </p:sp>
      <p:sp>
        <p:nvSpPr>
          <p:cNvPr id="74" name="Google Shape;74;p16"/>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Registers/Register Files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Registers are collections of latches or flip flops. A 64 bit register is a collection of 64 latches or flip flops right next to each other. Registers are the most used memory element. They are heavily centralized in relation to other notable hardware and so can easily work with them. </a:t>
            </a:r>
            <a:endParaRPr/>
          </a:p>
          <a:p>
            <a:pPr indent="0" lvl="0" marL="0" rtl="0" algn="l">
              <a:spcBef>
                <a:spcPts val="1200"/>
              </a:spcBef>
              <a:spcAft>
                <a:spcPts val="1200"/>
              </a:spcAft>
              <a:buNone/>
            </a:pPr>
            <a:r>
              <a:rPr lang="en"/>
              <a:t>Register Files are a collection of registers that have been put together into a grid or memory array. They are used for their energy efficiency because registers are built incredibly energy inefficient. </a:t>
            </a:r>
            <a:endParaRPr/>
          </a:p>
        </p:txBody>
      </p:sp>
      <p:sp>
        <p:nvSpPr>
          <p:cNvPr id="81" name="Google Shape;81;p17"/>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Transistors, gates, latches/flip flops, registers, and register files all designed off of each other. Can you describe how?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Answer - </a:t>
            </a:r>
            <a:endParaRPr/>
          </a:p>
          <a:p>
            <a:pPr indent="0" lvl="0" marL="0" rtl="0" algn="ctr">
              <a:spcBef>
                <a:spcPts val="0"/>
              </a:spcBef>
              <a:spcAft>
                <a:spcPts val="0"/>
              </a:spcAft>
              <a:buNone/>
            </a:pPr>
            <a:r>
              <a:rPr lang="en"/>
              <a:t>Transistors are used to build logic gates. Logic gates are used to build latches/flip flops. Latches/flip flops are put side by side to make registers. Registers are placed in a memory array to make register files.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Cache/RAM/Disk</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cache is a portion of memory that is meant to keep a copy of a part of memory close to the notable hardware.  </a:t>
            </a:r>
            <a:endParaRPr/>
          </a:p>
          <a:p>
            <a:pPr indent="0" lvl="0" marL="0" rtl="0" algn="l">
              <a:spcBef>
                <a:spcPts val="1200"/>
              </a:spcBef>
              <a:spcAft>
                <a:spcPts val="0"/>
              </a:spcAft>
              <a:buNone/>
            </a:pPr>
            <a:r>
              <a:rPr lang="en"/>
              <a:t>RAM is similar to the cache however it is bigger and meant to handle full programs. </a:t>
            </a:r>
            <a:endParaRPr/>
          </a:p>
          <a:p>
            <a:pPr indent="0" lvl="0" marL="0" rtl="0" algn="l">
              <a:spcBef>
                <a:spcPts val="1200"/>
              </a:spcBef>
              <a:spcAft>
                <a:spcPts val="1200"/>
              </a:spcAft>
              <a:buNone/>
            </a:pPr>
            <a:r>
              <a:rPr lang="en"/>
              <a:t>Disk memory is a type of memory that handles </a:t>
            </a:r>
            <a:r>
              <a:rPr lang="en"/>
              <a:t>permanent</a:t>
            </a:r>
            <a:r>
              <a:rPr lang="en"/>
              <a:t> </a:t>
            </a:r>
            <a:r>
              <a:rPr lang="en"/>
              <a:t>storage of files and other memory. </a:t>
            </a:r>
            <a:endParaRPr/>
          </a:p>
        </p:txBody>
      </p:sp>
      <p:sp>
        <p:nvSpPr>
          <p:cNvPr id="98" name="Google Shape;98;p20"/>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Sanjay</a:t>
            </a:r>
            <a:endParaRPr sz="1800">
              <a:solidFill>
                <a:srgbClr val="D9D9D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How much do you remember abouts 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 OS basics</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main purpose of an OS is to handle file systems, assign hardware resources and use specific hardware constructs </a:t>
            </a:r>
            <a:r>
              <a:rPr lang="en"/>
              <a:t>such as threads</a:t>
            </a:r>
            <a:r>
              <a:rPr lang="en"/>
              <a:t>. </a:t>
            </a:r>
            <a:endParaRPr/>
          </a:p>
          <a:p>
            <a:pPr indent="0" lvl="0" marL="0" rtl="0" algn="l">
              <a:spcBef>
                <a:spcPts val="1200"/>
              </a:spcBef>
              <a:spcAft>
                <a:spcPts val="0"/>
              </a:spcAft>
              <a:buNone/>
            </a:pPr>
            <a:r>
              <a:rPr lang="en"/>
              <a:t>An OS assigns hardware resources to processes. Processes are instances of programs. A program is just code in disk memory.</a:t>
            </a:r>
            <a:endParaRPr/>
          </a:p>
          <a:p>
            <a:pPr indent="0" lvl="0" marL="0" rtl="0" algn="l">
              <a:spcBef>
                <a:spcPts val="1200"/>
              </a:spcBef>
              <a:spcAft>
                <a:spcPts val="1200"/>
              </a:spcAft>
              <a:buNone/>
            </a:pPr>
            <a:r>
              <a:rPr lang="en"/>
              <a:t>An OS handles processes in a lifecycle. These life cycles can happen in a different number of stages such as a 3 stage or 5 stage. </a:t>
            </a:r>
            <a:endParaRPr/>
          </a:p>
        </p:txBody>
      </p:sp>
      <p:sp>
        <p:nvSpPr>
          <p:cNvPr id="110" name="Google Shape;110;p22"/>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Sanjay</a:t>
            </a:r>
            <a:endParaRPr sz="1800">
              <a:solidFill>
                <a:srgbClr val="D9D9D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lifecycle</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 process starts with the ready state. In this stage the process is in a queue and is ready to be used. </a:t>
            </a:r>
            <a:endParaRPr/>
          </a:p>
          <a:p>
            <a:pPr indent="0" lvl="0" marL="0" rtl="0" algn="l">
              <a:spcBef>
                <a:spcPts val="1200"/>
              </a:spcBef>
              <a:spcAft>
                <a:spcPts val="0"/>
              </a:spcAft>
              <a:buNone/>
            </a:pPr>
            <a:r>
              <a:rPr lang="en"/>
              <a:t>When a process is ready to be run it is put into the running state and is given to the cpu. Processes have an address space which is a range of memory locations the process can use. </a:t>
            </a:r>
            <a:endParaRPr/>
          </a:p>
          <a:p>
            <a:pPr indent="0" lvl="0" marL="0" rtl="0" algn="l">
              <a:spcBef>
                <a:spcPts val="1200"/>
              </a:spcBef>
              <a:spcAft>
                <a:spcPts val="0"/>
              </a:spcAft>
              <a:buNone/>
            </a:pPr>
            <a:r>
              <a:rPr lang="en"/>
              <a:t>If a process needs a memory element that it does not have easily (i.e. not in a register, etc.) it goes into the blocked/waiting state. When it gets the memory element it returns to the ready state. </a:t>
            </a:r>
            <a:endParaRPr/>
          </a:p>
          <a:p>
            <a:pPr indent="0" lvl="0" marL="0" rtl="0" algn="l">
              <a:spcBef>
                <a:spcPts val="1200"/>
              </a:spcBef>
              <a:spcAft>
                <a:spcPts val="1200"/>
              </a:spcAft>
              <a:buClr>
                <a:schemeClr val="dk1"/>
              </a:buClr>
              <a:buSzPts val="1100"/>
              <a:buFont typeface="Arial"/>
              <a:buNone/>
            </a:pPr>
            <a:r>
              <a:rPr lang="en"/>
              <a:t>When the process is done it enters the terminated state. </a:t>
            </a:r>
            <a:endParaRPr/>
          </a:p>
        </p:txBody>
      </p:sp>
      <p:sp>
        <p:nvSpPr>
          <p:cNvPr id="117" name="Google Shape;117;p23"/>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Nikesh</a:t>
            </a:r>
            <a:endParaRPr sz="1800">
              <a:solidFill>
                <a:srgbClr val="D9D9D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OS scheduling/pages</a:t>
            </a:r>
            <a:endParaRPr/>
          </a:p>
        </p:txBody>
      </p:sp>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Processes that are ready are put in a queue. The OS choose which to schedule by weighing a number of factors such as when they arrived, which is smallest, how long it is estimated to </a:t>
            </a:r>
            <a:r>
              <a:rPr lang="en"/>
              <a:t>execute</a:t>
            </a:r>
            <a:r>
              <a:rPr lang="en"/>
              <a:t>, etc depending on the specific scheduling system.</a:t>
            </a:r>
            <a:endParaRPr/>
          </a:p>
          <a:p>
            <a:pPr indent="0" lvl="0" marL="0" rtl="0" algn="l">
              <a:spcBef>
                <a:spcPts val="1200"/>
              </a:spcBef>
              <a:spcAft>
                <a:spcPts val="0"/>
              </a:spcAft>
              <a:buNone/>
            </a:pPr>
            <a:r>
              <a:rPr lang="en"/>
              <a:t>The way that a </a:t>
            </a:r>
            <a:r>
              <a:rPr lang="en"/>
              <a:t>processes</a:t>
            </a:r>
            <a:r>
              <a:rPr lang="en"/>
              <a:t> address space is </a:t>
            </a:r>
            <a:r>
              <a:rPr lang="en"/>
              <a:t>organized</a:t>
            </a:r>
            <a:r>
              <a:rPr lang="en"/>
              <a:t> allows for something called paging, meaning that the address space can be divided into chunks and split </a:t>
            </a:r>
            <a:r>
              <a:rPr lang="en"/>
              <a:t>across</a:t>
            </a:r>
            <a:r>
              <a:rPr lang="en"/>
              <a:t> the memory.</a:t>
            </a:r>
            <a:endParaRPr/>
          </a:p>
          <a:p>
            <a:pPr indent="0" lvl="0" marL="0" rtl="0" algn="l">
              <a:spcBef>
                <a:spcPts val="1200"/>
              </a:spcBef>
              <a:spcAft>
                <a:spcPts val="1200"/>
              </a:spcAft>
              <a:buNone/>
            </a:pPr>
            <a:r>
              <a:t/>
            </a:r>
            <a:endParaRPr/>
          </a:p>
        </p:txBody>
      </p:sp>
      <p:sp>
        <p:nvSpPr>
          <p:cNvPr id="124" name="Google Shape;124;p24"/>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Nikesh</a:t>
            </a:r>
            <a:endParaRPr sz="1800">
              <a:solidFill>
                <a:srgbClr val="D9D9D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Memory</a:t>
            </a:r>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a:t>Virtual memory works by associating a physical page in memory to a virtual memory address in a list of addresses in a module in the cpu (MMU). RAM is one place where memory addresses are stored. RAM has limited in size however so pages that are not loaded into RAM are instead represented on disk by a virtual address in a list of addresses in a module in the cpu (MMU). When a process calls a page that is not in RAM then the page is loaded from disk. This is extremely slow however, up to </a:t>
            </a:r>
            <a:r>
              <a:rPr lang="en"/>
              <a:t>1000x</a:t>
            </a:r>
            <a:r>
              <a:rPr lang="en"/>
              <a:t>.  </a:t>
            </a:r>
            <a:endParaRPr/>
          </a:p>
        </p:txBody>
      </p:sp>
      <p:pic>
        <p:nvPicPr>
          <p:cNvPr id="131" name="Google Shape;131;p25"/>
          <p:cNvPicPr preferRelativeResize="0"/>
          <p:nvPr/>
        </p:nvPicPr>
        <p:blipFill>
          <a:blip r:embed="rId3">
            <a:alphaModFix/>
          </a:blip>
          <a:stretch>
            <a:fillRect/>
          </a:stretch>
        </p:blipFill>
        <p:spPr>
          <a:xfrm>
            <a:off x="4807901" y="3146475"/>
            <a:ext cx="3946725" cy="1807650"/>
          </a:xfrm>
          <a:prstGeom prst="rect">
            <a:avLst/>
          </a:prstGeom>
          <a:noFill/>
          <a:ln>
            <a:noFill/>
          </a:ln>
        </p:spPr>
      </p:pic>
      <p:sp>
        <p:nvSpPr>
          <p:cNvPr id="132" name="Google Shape;132;p25"/>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Nikesh</a:t>
            </a:r>
            <a:endParaRPr sz="1800">
              <a:solidFill>
                <a:srgbClr val="D9D9D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Kernel/User mode and misc.</a:t>
            </a:r>
            <a:endParaRPr/>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Processes are separated into kernel and user mode processes. Kernel mode has full control of the OS. User mode doesn’t and is used for security. In user mode a program can call a syscall in order to access a kernel mode </a:t>
            </a:r>
            <a:r>
              <a:rPr lang="en"/>
              <a:t>functionality</a:t>
            </a:r>
            <a:r>
              <a:rPr lang="en"/>
              <a:t>. </a:t>
            </a:r>
            <a:endParaRPr/>
          </a:p>
          <a:p>
            <a:pPr indent="0" lvl="0" marL="0" rtl="0" algn="l">
              <a:spcBef>
                <a:spcPts val="1200"/>
              </a:spcBef>
              <a:spcAft>
                <a:spcPts val="0"/>
              </a:spcAft>
              <a:buNone/>
            </a:pPr>
            <a:r>
              <a:rPr lang="en"/>
              <a:t>The switching of control of processes is called a context switch. The time it takes to switch between processes and load them in is called dispatch latency. </a:t>
            </a:r>
            <a:endParaRPr/>
          </a:p>
          <a:p>
            <a:pPr indent="0" lvl="0" marL="0" rtl="0" algn="l">
              <a:spcBef>
                <a:spcPts val="1200"/>
              </a:spcBef>
              <a:spcAft>
                <a:spcPts val="0"/>
              </a:spcAft>
              <a:buClr>
                <a:schemeClr val="dk1"/>
              </a:buClr>
              <a:buSzPts val="1100"/>
              <a:buFont typeface="Arial"/>
              <a:buNone/>
            </a:pPr>
            <a:r>
              <a:rPr lang="en"/>
              <a:t>During the running of a process a special command call an interrupt can be used to perform a specific action. </a:t>
            </a:r>
            <a:endParaRPr/>
          </a:p>
          <a:p>
            <a:pPr indent="0" lvl="0" marL="0" rtl="0" algn="l">
              <a:spcBef>
                <a:spcPts val="1200"/>
              </a:spcBef>
              <a:spcAft>
                <a:spcPts val="1200"/>
              </a:spcAft>
              <a:buNone/>
            </a:pPr>
            <a:r>
              <a:t/>
            </a:r>
            <a:endParaRPr/>
          </a:p>
        </p:txBody>
      </p:sp>
      <p:sp>
        <p:nvSpPr>
          <p:cNvPr id="139" name="Google Shape;139;p26"/>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Sanjay</a:t>
            </a:r>
            <a:endParaRPr sz="1800">
              <a:solidFill>
                <a:srgbClr val="D9D9D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What do you remember about CPUs?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a:t>
            </a:r>
            <a:endParaRPr/>
          </a:p>
        </p:txBody>
      </p:sp>
      <p:sp>
        <p:nvSpPr>
          <p:cNvPr id="150" name="Google Shape;15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cpu runs off an instruction cycle. The instruction cycle is split into the fetch, decode, and execute stages. The fetch associates a memory location stored in a </a:t>
            </a:r>
            <a:r>
              <a:rPr lang="en"/>
              <a:t>register called the program counter (in intel). </a:t>
            </a:r>
            <a:endParaRPr/>
          </a:p>
          <a:p>
            <a:pPr indent="0" lvl="0" marL="0" rtl="0" algn="l">
              <a:spcBef>
                <a:spcPts val="1200"/>
              </a:spcBef>
              <a:spcAft>
                <a:spcPts val="0"/>
              </a:spcAft>
              <a:buNone/>
            </a:pPr>
            <a:r>
              <a:rPr lang="en"/>
              <a:t>The decode step associates the instruction with a place on the cpu that has a certain tool. If you have an add instruction for example you would send it to the alu(which has the add module). </a:t>
            </a:r>
            <a:endParaRPr/>
          </a:p>
          <a:p>
            <a:pPr indent="0" lvl="0" marL="0" rtl="0" algn="l">
              <a:spcBef>
                <a:spcPts val="1200"/>
              </a:spcBef>
              <a:spcAft>
                <a:spcPts val="1200"/>
              </a:spcAft>
              <a:buNone/>
            </a:pPr>
            <a:r>
              <a:rPr lang="en"/>
              <a:t>The execute actually executes the instruction in the place the decode step chose.</a:t>
            </a:r>
            <a:endParaRPr/>
          </a:p>
        </p:txBody>
      </p:sp>
      <p:sp>
        <p:nvSpPr>
          <p:cNvPr id="151" name="Google Shape;151;p28"/>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Nikesh</a:t>
            </a:r>
            <a:endParaRPr sz="1800">
              <a:solidFill>
                <a:srgbClr val="D9D9D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cpu usually has 3 levels of caches. The L1 being the smallest and fastest, the L2 being bigger and slower and the L3 being the biggest and slowest. </a:t>
            </a:r>
            <a:endParaRPr/>
          </a:p>
          <a:p>
            <a:pPr indent="0" lvl="0" marL="0" rtl="0" algn="l">
              <a:spcBef>
                <a:spcPts val="1200"/>
              </a:spcBef>
              <a:spcAft>
                <a:spcPts val="0"/>
              </a:spcAft>
              <a:buNone/>
            </a:pPr>
            <a:r>
              <a:rPr lang="en"/>
              <a:t>The L1 cache usually has an i-cache and a d-cache. The i-cache is used for </a:t>
            </a:r>
            <a:r>
              <a:rPr lang="en"/>
              <a:t>parallelism</a:t>
            </a:r>
            <a:r>
              <a:rPr lang="en"/>
              <a:t>. The d-cache is used for data that needs to be on hand. </a:t>
            </a:r>
            <a:endParaRPr/>
          </a:p>
          <a:p>
            <a:pPr indent="0" lvl="0" marL="0" rtl="0" algn="l">
              <a:spcBef>
                <a:spcPts val="1200"/>
              </a:spcBef>
              <a:spcAft>
                <a:spcPts val="0"/>
              </a:spcAft>
              <a:buNone/>
            </a:pPr>
            <a:r>
              <a:rPr lang="en"/>
              <a:t>Parallelism is anything that makes a computer execute multiple useful things </a:t>
            </a:r>
            <a:r>
              <a:rPr lang="en"/>
              <a:t>simultaneously</a:t>
            </a:r>
            <a:r>
              <a:rPr lang="en"/>
              <a:t>. </a:t>
            </a:r>
            <a:endParaRPr/>
          </a:p>
          <a:p>
            <a:pPr indent="0" lvl="0" marL="0" rtl="0" algn="l">
              <a:spcBef>
                <a:spcPts val="1200"/>
              </a:spcBef>
              <a:spcAft>
                <a:spcPts val="1200"/>
              </a:spcAft>
              <a:buNone/>
            </a:pPr>
            <a:r>
              <a:rPr lang="en"/>
              <a:t>An example in a cpu is when a cpu executes the fetch, decode and execute stages at once. </a:t>
            </a:r>
            <a:endParaRPr/>
          </a:p>
        </p:txBody>
      </p:sp>
      <p:sp>
        <p:nvSpPr>
          <p:cNvPr id="157" name="Google Shape;15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a:t>
            </a:r>
            <a:endParaRPr/>
          </a:p>
        </p:txBody>
      </p:sp>
      <p:sp>
        <p:nvSpPr>
          <p:cNvPr id="158" name="Google Shape;158;p29"/>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Can y’all describe how parallelism of the instruction cycle work in a cpu?</a:t>
            </a:r>
            <a:endParaRPr/>
          </a:p>
          <a:p>
            <a:pPr indent="0" lvl="0" marL="0" rtl="0" algn="ctr">
              <a:spcBef>
                <a:spcPts val="0"/>
              </a:spcBef>
              <a:spcAft>
                <a:spcPts val="0"/>
              </a:spcAft>
              <a:buNone/>
            </a:pPr>
            <a:r>
              <a:rPr lang="en"/>
              <a:t>Bonus - Can you name any types of parallelism?</a:t>
            </a:r>
            <a:endParaRPr/>
          </a:p>
        </p:txBody>
      </p:sp>
      <p:sp>
        <p:nvSpPr>
          <p:cNvPr id="164" name="Google Shape;164;p30"/>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Sanjay</a:t>
            </a:r>
            <a:endParaRPr sz="1800">
              <a:solidFill>
                <a:srgbClr val="D9D9D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740"/>
              <a:t>Answer - The cpu will fetch the instruction and then send it to the decode stage. The cpu will then run the fetch again while the decode is running. This will repeat for all stages.</a:t>
            </a:r>
            <a:endParaRPr sz="2740"/>
          </a:p>
          <a:p>
            <a:pPr indent="0" lvl="0" marL="0" rtl="0" algn="ctr">
              <a:spcBef>
                <a:spcPts val="0"/>
              </a:spcBef>
              <a:spcAft>
                <a:spcPts val="0"/>
              </a:spcAft>
              <a:buSzPts val="990"/>
              <a:buNone/>
            </a:pPr>
            <a:r>
              <a:t/>
            </a:r>
            <a:endParaRPr sz="2740"/>
          </a:p>
          <a:p>
            <a:pPr indent="0" lvl="0" marL="0" rtl="0" algn="ctr">
              <a:spcBef>
                <a:spcPts val="0"/>
              </a:spcBef>
              <a:spcAft>
                <a:spcPts val="0"/>
              </a:spcAft>
              <a:buSzPts val="990"/>
              <a:buNone/>
            </a:pPr>
            <a:r>
              <a:rPr lang="en" sz="2740"/>
              <a:t>Answer - Types of parallelism include instruction-level, data-level, and thread-level parallelism.</a:t>
            </a:r>
            <a:endParaRPr sz="2740"/>
          </a:p>
        </p:txBody>
      </p:sp>
      <p:sp>
        <p:nvSpPr>
          <p:cNvPr id="170" name="Google Shape;170;p31"/>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Sanjay</a:t>
            </a:r>
            <a:endParaRPr sz="1800">
              <a:solidFill>
                <a:srgbClr val="D9D9D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How much do y’all remember about gpus?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GPUs have terms that are provider specific. These slides will use some terms that are specific to NVIDIA gpus. There are AMD alternatives that are the same thing.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a:t>
            </a:r>
            <a:endParaRPr/>
          </a:p>
        </p:txBody>
      </p:sp>
      <p:sp>
        <p:nvSpPr>
          <p:cNvPr id="186" name="Google Shape;186;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gpu implements its instruction cycle slightly differently than a cpu. </a:t>
            </a:r>
            <a:endParaRPr/>
          </a:p>
          <a:p>
            <a:pPr indent="0" lvl="0" marL="0" rtl="0" algn="l">
              <a:spcBef>
                <a:spcPts val="1200"/>
              </a:spcBef>
              <a:spcAft>
                <a:spcPts val="0"/>
              </a:spcAft>
              <a:buNone/>
            </a:pPr>
            <a:r>
              <a:rPr lang="en"/>
              <a:t>A gpu fetches instructions the same however it uses simt for the decode stage and the execute stage uses simd. </a:t>
            </a:r>
            <a:endParaRPr/>
          </a:p>
          <a:p>
            <a:pPr indent="0" lvl="0" marL="0" rtl="0" algn="l">
              <a:spcBef>
                <a:spcPts val="1200"/>
              </a:spcBef>
              <a:spcAft>
                <a:spcPts val="0"/>
              </a:spcAft>
              <a:buNone/>
            </a:pPr>
            <a:r>
              <a:rPr lang="en"/>
              <a:t>Simt means single input multiple thread. </a:t>
            </a:r>
            <a:endParaRPr/>
          </a:p>
          <a:p>
            <a:pPr indent="0" lvl="0" marL="0" rtl="0" algn="l">
              <a:spcBef>
                <a:spcPts val="1200"/>
              </a:spcBef>
              <a:spcAft>
                <a:spcPts val="0"/>
              </a:spcAft>
              <a:buNone/>
            </a:pPr>
            <a:r>
              <a:rPr lang="en"/>
              <a:t>A thread is essentially another computer in the same address space. They share memory. </a:t>
            </a:r>
            <a:endParaRPr/>
          </a:p>
          <a:p>
            <a:pPr indent="0" lvl="0" marL="0" rtl="0" algn="l">
              <a:spcBef>
                <a:spcPts val="1200"/>
              </a:spcBef>
              <a:spcAft>
                <a:spcPts val="1200"/>
              </a:spcAft>
              <a:buNone/>
            </a:pPr>
            <a:r>
              <a:rPr lang="en"/>
              <a:t>Simd means single input multiple data. It is based off vector registers which are multiple registers “packed” together into one. </a:t>
            </a:r>
            <a:endParaRPr/>
          </a:p>
        </p:txBody>
      </p:sp>
      <p:sp>
        <p:nvSpPr>
          <p:cNvPr id="187" name="Google Shape;187;p34"/>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Nikesh</a:t>
            </a:r>
            <a:endParaRPr sz="1800">
              <a:solidFill>
                <a:srgbClr val="D9D9D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a:t>
            </a:r>
            <a:endParaRPr/>
          </a:p>
        </p:txBody>
      </p:sp>
      <p:sp>
        <p:nvSpPr>
          <p:cNvPr id="193" name="Google Shape;19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Gpus schedule based on warps (groups of threads) instead of processes.</a:t>
            </a:r>
            <a:endParaRPr/>
          </a:p>
          <a:p>
            <a:pPr indent="0" lvl="0" marL="0" rtl="0" algn="l">
              <a:spcBef>
                <a:spcPts val="1200"/>
              </a:spcBef>
              <a:spcAft>
                <a:spcPts val="0"/>
              </a:spcAft>
              <a:buNone/>
            </a:pPr>
            <a:r>
              <a:rPr lang="en"/>
              <a:t>The simt module executes the same instruction across all threads in a warp. This happens until the threads run a conditional (if statement). When this happens the threads are split into the true and false categories a branch divergence happens. </a:t>
            </a:r>
            <a:endParaRPr/>
          </a:p>
          <a:p>
            <a:pPr indent="0" lvl="0" marL="0" rtl="0" algn="l">
              <a:spcBef>
                <a:spcPts val="1200"/>
              </a:spcBef>
              <a:spcAft>
                <a:spcPts val="1200"/>
              </a:spcAft>
              <a:buNone/>
            </a:pPr>
            <a:r>
              <a:rPr lang="en"/>
              <a:t>The designers choose a group to go first and the threads that are in that category run to a point defined by the warp scheduler. Then the other threads run until they all are running the same instructions again and they have a branch convergence. </a:t>
            </a:r>
            <a:endParaRPr/>
          </a:p>
        </p:txBody>
      </p:sp>
      <p:sp>
        <p:nvSpPr>
          <p:cNvPr id="194" name="Google Shape;194;p35"/>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a:t>
            </a:r>
            <a:endParaRPr/>
          </a:p>
        </p:txBody>
      </p:sp>
      <p:sp>
        <p:nvSpPr>
          <p:cNvPr id="200" name="Google Shape;20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Whenever threads need to access registers they use a bank.</a:t>
            </a:r>
            <a:endParaRPr/>
          </a:p>
          <a:p>
            <a:pPr indent="0" lvl="0" marL="0" rtl="0" algn="l">
              <a:spcBef>
                <a:spcPts val="1200"/>
              </a:spcBef>
              <a:spcAft>
                <a:spcPts val="0"/>
              </a:spcAft>
              <a:buNone/>
            </a:pPr>
            <a:r>
              <a:rPr lang="en"/>
              <a:t>A bank is a collection of register files that are “stacked” on top of each other. They are split into lanes. If you imagine banks that stack 3x3 register files then the banks would have three lanes. The leftmost lane would take up all three of the leftmost registers in every lane. Each lane can </a:t>
            </a:r>
            <a:r>
              <a:rPr lang="en"/>
              <a:t>only</a:t>
            </a:r>
            <a:r>
              <a:rPr lang="en"/>
              <a:t> read or write to one thing in its range. Having lanes allows multiple threads to access the bank simultaneously. </a:t>
            </a:r>
            <a:endParaRPr/>
          </a:p>
          <a:p>
            <a:pPr indent="0" lvl="0" marL="0" rtl="0" algn="l">
              <a:spcBef>
                <a:spcPts val="1200"/>
              </a:spcBef>
              <a:spcAft>
                <a:spcPts val="1200"/>
              </a:spcAft>
              <a:buNone/>
            </a:pPr>
            <a:r>
              <a:rPr lang="en"/>
              <a:t>In order to optimize the order that registers are requested an operand collector is used. Instructions are split into operands (the instruction to be run) and operands (whatever data element is </a:t>
            </a:r>
            <a:r>
              <a:rPr lang="en"/>
              <a:t>being used). </a:t>
            </a:r>
            <a:endParaRPr/>
          </a:p>
        </p:txBody>
      </p:sp>
      <p:sp>
        <p:nvSpPr>
          <p:cNvPr id="201" name="Google Shape;201;p36"/>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a:t>
            </a:r>
            <a:endParaRPr/>
          </a:p>
        </p:txBody>
      </p:sp>
      <p:sp>
        <p:nvSpPr>
          <p:cNvPr id="207" name="Google Shape;20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Gpus have a unified L1 cache that combines a texture cache and an actual L1 cache. Whenever a gpu requests data from a cache it </a:t>
            </a:r>
            <a:r>
              <a:rPr lang="en"/>
              <a:t>coalesces</a:t>
            </a:r>
            <a:r>
              <a:rPr lang="en"/>
              <a:t> the data or makes it so all of the instructions that would be unveiled together are together. </a:t>
            </a:r>
            <a:endParaRPr/>
          </a:p>
          <a:p>
            <a:pPr indent="0" lvl="0" marL="0" rtl="0" algn="l">
              <a:spcBef>
                <a:spcPts val="1200"/>
              </a:spcBef>
              <a:spcAft>
                <a:spcPts val="0"/>
              </a:spcAft>
              <a:buNone/>
            </a:pPr>
            <a:r>
              <a:rPr lang="en"/>
              <a:t>When there is a cache hit (the value is in the cache) it is retrieved from the cache. When there is a </a:t>
            </a:r>
            <a:r>
              <a:rPr lang="en"/>
              <a:t>cache</a:t>
            </a:r>
            <a:r>
              <a:rPr lang="en"/>
              <a:t> miss (the value is not in the cache) it is sent to a process request table and retrieved from the lower memory. The instruction is repeated (this is called an instruction replay) until the cache is updated and then the value is unveiled. </a:t>
            </a:r>
            <a:endParaRPr/>
          </a:p>
          <a:p>
            <a:pPr indent="0" lvl="0" marL="0" rtl="0" algn="l">
              <a:spcBef>
                <a:spcPts val="1200"/>
              </a:spcBef>
              <a:spcAft>
                <a:spcPts val="1200"/>
              </a:spcAft>
              <a:buNone/>
            </a:pPr>
            <a:r>
              <a:rPr lang="en"/>
              <a:t>When all threads are running the same instructions the simd unit runs and the instructions run simultaneously. </a:t>
            </a:r>
            <a:endParaRPr/>
          </a:p>
        </p:txBody>
      </p:sp>
      <p:sp>
        <p:nvSpPr>
          <p:cNvPr id="208" name="Google Shape;208;p37"/>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Can y’all name some CPU/GPU differences?</a:t>
            </a:r>
            <a:endParaRPr/>
          </a:p>
        </p:txBody>
      </p:sp>
      <p:sp>
        <p:nvSpPr>
          <p:cNvPr id="214" name="Google Shape;214;p38"/>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Sanjay</a:t>
            </a:r>
            <a:endParaRPr sz="1800">
              <a:solidFill>
                <a:srgbClr val="D9D9D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Answers</a:t>
            </a:r>
            <a:endParaRPr/>
          </a:p>
        </p:txBody>
      </p:sp>
      <p:sp>
        <p:nvSpPr>
          <p:cNvPr id="220" name="Google Shape;22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 gpu has a unified cache (texture and regular cache are together) while cpu has just a regular cache.</a:t>
            </a:r>
            <a:endParaRPr/>
          </a:p>
          <a:p>
            <a:pPr indent="0" lvl="0" marL="0" rtl="0" algn="l">
              <a:spcBef>
                <a:spcPts val="1200"/>
              </a:spcBef>
              <a:spcAft>
                <a:spcPts val="0"/>
              </a:spcAft>
              <a:buNone/>
            </a:pPr>
            <a:r>
              <a:rPr lang="en"/>
              <a:t>-the gpu has L1 and L2 while a cpu usually has an L1, L2 and a L3 cache. </a:t>
            </a:r>
            <a:endParaRPr/>
          </a:p>
          <a:p>
            <a:pPr indent="0" lvl="0" marL="0" rtl="0" algn="l">
              <a:spcBef>
                <a:spcPts val="1200"/>
              </a:spcBef>
              <a:spcAft>
                <a:spcPts val="0"/>
              </a:spcAft>
              <a:buNone/>
            </a:pPr>
            <a:r>
              <a:rPr lang="en"/>
              <a:t>-using registers vs banks</a:t>
            </a:r>
            <a:endParaRPr/>
          </a:p>
          <a:p>
            <a:pPr indent="0" lvl="0" marL="0" rtl="0" algn="l">
              <a:spcBef>
                <a:spcPts val="1200"/>
              </a:spcBef>
              <a:spcAft>
                <a:spcPts val="0"/>
              </a:spcAft>
              <a:buNone/>
            </a:pPr>
            <a:r>
              <a:rPr lang="en"/>
              <a:t>-implementation of threading</a:t>
            </a:r>
            <a:endParaRPr/>
          </a:p>
          <a:p>
            <a:pPr indent="0" lvl="0" marL="0" rtl="0" algn="l">
              <a:spcBef>
                <a:spcPts val="1200"/>
              </a:spcBef>
              <a:spcAft>
                <a:spcPts val="0"/>
              </a:spcAft>
              <a:buNone/>
            </a:pPr>
            <a:r>
              <a:rPr lang="en"/>
              <a:t>-implementation of simd</a:t>
            </a:r>
            <a:endParaRPr/>
          </a:p>
          <a:p>
            <a:pPr indent="0" lvl="0" marL="0" rtl="0" algn="l">
              <a:spcBef>
                <a:spcPts val="1200"/>
              </a:spcBef>
              <a:spcAft>
                <a:spcPts val="0"/>
              </a:spcAft>
              <a:buNone/>
            </a:pPr>
            <a:r>
              <a:rPr lang="en"/>
              <a:t>-scheduling warps for gpu and processes for cpu</a:t>
            </a:r>
            <a:endParaRPr/>
          </a:p>
          <a:p>
            <a:pPr indent="0" lvl="0" marL="0" rtl="0" algn="l">
              <a:spcBef>
                <a:spcPts val="1200"/>
              </a:spcBef>
              <a:spcAft>
                <a:spcPts val="1200"/>
              </a:spcAft>
              <a:buNone/>
            </a:pPr>
            <a:r>
              <a:rPr lang="en"/>
              <a:t>-gpus compute instructions in parallel while cpus are more general.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Caching basics</a:t>
            </a:r>
            <a:endParaRPr/>
          </a:p>
        </p:txBody>
      </p:sp>
      <p:sp>
        <p:nvSpPr>
          <p:cNvPr id="226" name="Google Shape;22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Caching works because two types of locality are common in computing.</a:t>
            </a:r>
            <a:endParaRPr/>
          </a:p>
          <a:p>
            <a:pPr indent="0" lvl="0" marL="0" rtl="0" algn="l">
              <a:spcBef>
                <a:spcPts val="1200"/>
              </a:spcBef>
              <a:spcAft>
                <a:spcPts val="0"/>
              </a:spcAft>
              <a:buNone/>
            </a:pPr>
            <a:r>
              <a:rPr lang="en"/>
              <a:t>Temporal Locality - memory locations are likely to be reused.</a:t>
            </a:r>
            <a:endParaRPr/>
          </a:p>
          <a:p>
            <a:pPr indent="0" lvl="0" marL="0" rtl="0" algn="l">
              <a:spcBef>
                <a:spcPts val="1200"/>
              </a:spcBef>
              <a:spcAft>
                <a:spcPts val="0"/>
              </a:spcAft>
              <a:buNone/>
            </a:pPr>
            <a:r>
              <a:rPr lang="en"/>
              <a:t>Spatial</a:t>
            </a:r>
            <a:r>
              <a:rPr lang="en"/>
              <a:t> Locality - memory locations near one chosen are likely to be used next.</a:t>
            </a:r>
            <a:endParaRPr/>
          </a:p>
          <a:p>
            <a:pPr indent="0" lvl="0" marL="0" rtl="0" algn="l">
              <a:spcBef>
                <a:spcPts val="1200"/>
              </a:spcBef>
              <a:spcAft>
                <a:spcPts val="0"/>
              </a:spcAft>
              <a:buNone/>
            </a:pPr>
            <a:r>
              <a:rPr lang="en"/>
              <a:t>Caches are made up of frames. Frames are made up of data, a tag, an offset (occasionally) and a state bit. You can imagine frames as a 2d array with the rows being frames and the columns being the data and tag. The offset is used to find a specific piece of data.</a:t>
            </a:r>
            <a:endParaRPr/>
          </a:p>
          <a:p>
            <a:pPr indent="0" lvl="0" marL="0" rtl="0" algn="l">
              <a:spcBef>
                <a:spcPts val="1200"/>
              </a:spcBef>
              <a:spcAft>
                <a:spcPts val="1200"/>
              </a:spcAft>
              <a:buClr>
                <a:schemeClr val="dk1"/>
              </a:buClr>
              <a:buSzPts val="1100"/>
              <a:buFont typeface="Arial"/>
              <a:buNone/>
            </a:pPr>
            <a:r>
              <a:rPr lang="en"/>
              <a:t>The way that the cache replaces the instructions inside of itself is called the eviction policy. </a:t>
            </a:r>
            <a:endParaRPr/>
          </a:p>
        </p:txBody>
      </p:sp>
      <p:sp>
        <p:nvSpPr>
          <p:cNvPr id="227" name="Google Shape;227;p40"/>
          <p:cNvSpPr txBox="1"/>
          <p:nvPr/>
        </p:nvSpPr>
        <p:spPr>
          <a:xfrm>
            <a:off x="660470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three ways to configure a cache. </a:t>
            </a:r>
            <a:endParaRPr/>
          </a:p>
          <a:p>
            <a:pPr indent="0" lvl="0" marL="0" rtl="0" algn="l">
              <a:spcBef>
                <a:spcPts val="1200"/>
              </a:spcBef>
              <a:spcAft>
                <a:spcPts val="0"/>
              </a:spcAft>
              <a:buNone/>
            </a:pPr>
            <a:r>
              <a:rPr lang="en"/>
              <a:t>Direct-mapping caching occurs when a requested frame is mapped to one tag. Direct mapping doesn’t have a replacement algorithm. If the element is not there then the value is replaced automatically. </a:t>
            </a:r>
            <a:endParaRPr/>
          </a:p>
          <a:p>
            <a:pPr indent="0" lvl="0" marL="0" rtl="0" algn="l">
              <a:spcBef>
                <a:spcPts val="1200"/>
              </a:spcBef>
              <a:spcAft>
                <a:spcPts val="0"/>
              </a:spcAft>
              <a:buNone/>
            </a:pPr>
            <a:r>
              <a:rPr lang="en"/>
              <a:t>Set-associative caching occurs when a requested frame maps to a number of tags (also called a set of tags). </a:t>
            </a:r>
            <a:endParaRPr/>
          </a:p>
          <a:p>
            <a:pPr indent="0" lvl="0" marL="0" rtl="0" algn="l">
              <a:spcBef>
                <a:spcPts val="1200"/>
              </a:spcBef>
              <a:spcAft>
                <a:spcPts val="1200"/>
              </a:spcAft>
              <a:buNone/>
            </a:pPr>
            <a:r>
              <a:rPr lang="en"/>
              <a:t>Fully-associative caching occurs when there is one frame and each tag in the frame must be checked to see if it is the right one. </a:t>
            </a:r>
            <a:endParaRPr/>
          </a:p>
        </p:txBody>
      </p:sp>
      <p:sp>
        <p:nvSpPr>
          <p:cNvPr id="233" name="Google Shape;23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mapping</a:t>
            </a:r>
            <a:endParaRPr/>
          </a:p>
        </p:txBody>
      </p:sp>
      <p:sp>
        <p:nvSpPr>
          <p:cNvPr id="234" name="Google Shape;234;p41"/>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The types of mapping are different in their relations between _____ and ____.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Answer - the frames / the tags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a:t>
            </a:r>
            <a:endParaRPr/>
          </a:p>
        </p:txBody>
      </p:sp>
      <p:sp>
        <p:nvSpPr>
          <p:cNvPr id="250" name="Google Shape;250;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something is being looked up the frame is given. The state bit says whether there is a value in the data section of the cache. Depending on the way you are caching the frame is associated to a number of tags. All the tags are compared to the tag on the request and if there is a hit then all of the data is given back up the chain. If you are using an offset bit then the offset is used to get the exact piece of data instead of getting the whole data. </a:t>
            </a:r>
            <a:endParaRPr/>
          </a:p>
          <a:p>
            <a:pPr indent="0" lvl="0" marL="0" rtl="0" algn="l">
              <a:spcBef>
                <a:spcPts val="1200"/>
              </a:spcBef>
              <a:spcAft>
                <a:spcPts val="1200"/>
              </a:spcAft>
              <a:buClr>
                <a:schemeClr val="dk1"/>
              </a:buClr>
              <a:buSzPts val="1100"/>
              <a:buFont typeface="Arial"/>
              <a:buNone/>
            </a:pPr>
            <a:r>
              <a:rPr lang="en"/>
              <a:t>If not then there is a cache miss and the frame is full then the eviction policy goes into place. Otherwise the memory location is mapped onto a location that is not taken.</a:t>
            </a:r>
            <a:endParaRPr/>
          </a:p>
        </p:txBody>
      </p:sp>
      <p:sp>
        <p:nvSpPr>
          <p:cNvPr id="251" name="Google Shape;251;p44"/>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write policies</a:t>
            </a:r>
            <a:endParaRPr/>
          </a:p>
        </p:txBody>
      </p:sp>
      <p:sp>
        <p:nvSpPr>
          <p:cNvPr id="257" name="Google Shape;257;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way the cache handles updating data in itself can be done in 3 main ways. </a:t>
            </a:r>
            <a:endParaRPr/>
          </a:p>
          <a:p>
            <a:pPr indent="0" lvl="0" marL="0" rtl="0" algn="l">
              <a:spcBef>
                <a:spcPts val="1200"/>
              </a:spcBef>
              <a:spcAft>
                <a:spcPts val="0"/>
              </a:spcAft>
              <a:buNone/>
            </a:pPr>
            <a:r>
              <a:rPr lang="en"/>
              <a:t>Write-through policy involves writing updated data both to the cache and to main memory. </a:t>
            </a:r>
            <a:endParaRPr/>
          </a:p>
          <a:p>
            <a:pPr indent="0" lvl="0" marL="0" rtl="0" algn="l">
              <a:spcBef>
                <a:spcPts val="1200"/>
              </a:spcBef>
              <a:spcAft>
                <a:spcPts val="0"/>
              </a:spcAft>
              <a:buNone/>
            </a:pPr>
            <a:r>
              <a:rPr lang="en"/>
              <a:t>Write-back policy involves updating cache and then after some time (often when the data is evicted).</a:t>
            </a:r>
            <a:endParaRPr/>
          </a:p>
          <a:p>
            <a:pPr indent="0" lvl="0" marL="0" rtl="0" algn="l">
              <a:spcBef>
                <a:spcPts val="1200"/>
              </a:spcBef>
              <a:spcAft>
                <a:spcPts val="0"/>
              </a:spcAft>
              <a:buNone/>
            </a:pPr>
            <a:r>
              <a:rPr lang="en"/>
              <a:t>Write-around policy involves updating the main memory only and letting the cache update after subsequent reads. </a:t>
            </a:r>
            <a:endParaRPr/>
          </a:p>
          <a:p>
            <a:pPr indent="0" lvl="0" marL="0" rtl="0" algn="l">
              <a:spcBef>
                <a:spcPts val="1200"/>
              </a:spcBef>
              <a:spcAft>
                <a:spcPts val="1200"/>
              </a:spcAft>
              <a:buNone/>
            </a:pPr>
            <a:r>
              <a:t/>
            </a:r>
            <a:endParaRPr/>
          </a:p>
        </p:txBody>
      </p:sp>
      <p:sp>
        <p:nvSpPr>
          <p:cNvPr id="258" name="Google Shape;258;p45"/>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allocation policies </a:t>
            </a:r>
            <a:endParaRPr/>
          </a:p>
        </p:txBody>
      </p:sp>
      <p:sp>
        <p:nvSpPr>
          <p:cNvPr id="264" name="Google Shape;26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Allocation policies are how a cache handle a write miss (trying to write to an element in cache that is not in the cache). </a:t>
            </a:r>
            <a:endParaRPr/>
          </a:p>
          <a:p>
            <a:pPr indent="0" lvl="0" marL="0" rtl="0" algn="l">
              <a:spcBef>
                <a:spcPts val="1200"/>
              </a:spcBef>
              <a:spcAft>
                <a:spcPts val="0"/>
              </a:spcAft>
              <a:buNone/>
            </a:pPr>
            <a:r>
              <a:rPr lang="en"/>
              <a:t>A fetch-on-write policy involves loading the block that was missed and then updating it with the data in cache. 	</a:t>
            </a:r>
            <a:endParaRPr/>
          </a:p>
          <a:p>
            <a:pPr indent="0" lvl="0" marL="0" rtl="0" algn="l">
              <a:spcBef>
                <a:spcPts val="1200"/>
              </a:spcBef>
              <a:spcAft>
                <a:spcPts val="1200"/>
              </a:spcAft>
              <a:buNone/>
            </a:pPr>
            <a:r>
              <a:rPr lang="en"/>
              <a:t>A write-no-allocate involves updating the data in main memory and not touching the data in cache. </a:t>
            </a:r>
            <a:endParaRPr/>
          </a:p>
        </p:txBody>
      </p:sp>
      <p:sp>
        <p:nvSpPr>
          <p:cNvPr id="265" name="Google Shape;265;p46"/>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If I want a cache that maps one frame to one tag that updates data in cache only, handles write misses by loading </a:t>
            </a:r>
            <a:r>
              <a:rPr lang="en"/>
              <a:t>data into the cache and updating it, and has a write policy that updates the cache (main memory is updated after the data is evicted). </a:t>
            </a:r>
            <a:endParaRPr/>
          </a:p>
        </p:txBody>
      </p:sp>
      <p:sp>
        <p:nvSpPr>
          <p:cNvPr id="271" name="Google Shape;271;p47"/>
          <p:cNvSpPr txBox="1"/>
          <p:nvPr/>
        </p:nvSpPr>
        <p:spPr>
          <a:xfrm>
            <a:off x="660470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Answer - </a:t>
            </a:r>
            <a:endParaRPr/>
          </a:p>
          <a:p>
            <a:pPr indent="0" lvl="0" marL="0" rtl="0" algn="ctr">
              <a:spcBef>
                <a:spcPts val="0"/>
              </a:spcBef>
              <a:spcAft>
                <a:spcPts val="0"/>
              </a:spcAft>
              <a:buNone/>
            </a:pPr>
            <a:r>
              <a:rPr lang="en"/>
              <a:t>A direct-mapped cache, </a:t>
            </a:r>
            <a:endParaRPr/>
          </a:p>
          <a:p>
            <a:pPr indent="0" lvl="0" marL="0" rtl="0" algn="ctr">
              <a:spcBef>
                <a:spcPts val="0"/>
              </a:spcBef>
              <a:spcAft>
                <a:spcPts val="0"/>
              </a:spcAft>
              <a:buNone/>
            </a:pPr>
            <a:r>
              <a:rPr lang="en"/>
              <a:t>With a write-back cache write policy,</a:t>
            </a:r>
            <a:endParaRPr/>
          </a:p>
          <a:p>
            <a:pPr indent="0" lvl="0" marL="0" rtl="0" algn="ctr">
              <a:spcBef>
                <a:spcPts val="0"/>
              </a:spcBef>
              <a:spcAft>
                <a:spcPts val="0"/>
              </a:spcAft>
              <a:buNone/>
            </a:pPr>
            <a:r>
              <a:rPr lang="en"/>
              <a:t>And a fetch-on-write allocation policy</a:t>
            </a:r>
            <a:endParaRPr/>
          </a:p>
        </p:txBody>
      </p:sp>
      <p:sp>
        <p:nvSpPr>
          <p:cNvPr id="277" name="Google Shape;277;p48"/>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How does a fully </a:t>
            </a:r>
            <a:r>
              <a:rPr lang="en"/>
              <a:t>associative</a:t>
            </a:r>
            <a:r>
              <a:rPr lang="en"/>
              <a:t> cache that uses a write through policy and a fetch-on-write policy work?</a:t>
            </a:r>
            <a:endParaRPr/>
          </a:p>
        </p:txBody>
      </p:sp>
      <p:sp>
        <p:nvSpPr>
          <p:cNvPr id="283" name="Google Shape;283;p49"/>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Answer - The cache maps all tags to a single frame. The cache updates both the cache and main memory when updating a value and the cache handles write misses by loading the value into the cache and then updating it.</a:t>
            </a:r>
            <a:endParaRPr/>
          </a:p>
        </p:txBody>
      </p:sp>
      <p:sp>
        <p:nvSpPr>
          <p:cNvPr id="289" name="Google Shape;289;p50"/>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What is the smallest component of a computer?</a:t>
            </a:r>
            <a:endParaRPr/>
          </a:p>
        </p:txBody>
      </p:sp>
      <p:sp>
        <p:nvSpPr>
          <p:cNvPr id="295" name="Google Shape;295;p51"/>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Answer - The transistor. For cpus/gpus cmos transistors are mostly used. </a:t>
            </a:r>
            <a:endParaRPr/>
          </a:p>
        </p:txBody>
      </p:sp>
      <p:sp>
        <p:nvSpPr>
          <p:cNvPr id="301" name="Google Shape;301;p52"/>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3"/>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 process is to a cpu as a ______ is to a gpu?</a:t>
            </a:r>
            <a:endParaRPr/>
          </a:p>
        </p:txBody>
      </p:sp>
      <p:sp>
        <p:nvSpPr>
          <p:cNvPr id="307" name="Google Shape;307;p53"/>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Answer - warp/wavefront. A cpu schedules by processes while a gpu schedules by warps/wavefronts.</a:t>
            </a:r>
            <a:endParaRPr/>
          </a:p>
        </p:txBody>
      </p:sp>
      <p:sp>
        <p:nvSpPr>
          <p:cNvPr id="313" name="Google Shape;313;p54"/>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When an OS has a bunch of processes that are ready to execute what does it use to tell which one to run next?</a:t>
            </a:r>
            <a:endParaRPr/>
          </a:p>
          <a:p>
            <a:pPr indent="0" lvl="0" marL="0" rtl="0" algn="ctr">
              <a:spcBef>
                <a:spcPts val="0"/>
              </a:spcBef>
              <a:spcAft>
                <a:spcPts val="0"/>
              </a:spcAft>
              <a:buNone/>
            </a:pPr>
            <a:r>
              <a:rPr lang="en"/>
              <a:t>Bonus - Name a couple of factors that influence your answer.</a:t>
            </a:r>
            <a:endParaRPr/>
          </a:p>
        </p:txBody>
      </p:sp>
      <p:sp>
        <p:nvSpPr>
          <p:cNvPr id="319" name="Google Shape;319;p55"/>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Answer - scheduling algorithm. </a:t>
            </a:r>
            <a:endParaRPr/>
          </a:p>
          <a:p>
            <a:pPr indent="0" lvl="0" marL="0" rtl="0" algn="ctr">
              <a:spcBef>
                <a:spcPts val="0"/>
              </a:spcBef>
              <a:spcAft>
                <a:spcPts val="0"/>
              </a:spcAft>
              <a:buNone/>
            </a:pPr>
            <a:r>
              <a:rPr lang="en"/>
              <a:t>Bonus Answer - </a:t>
            </a:r>
            <a:endParaRPr/>
          </a:p>
          <a:p>
            <a:pPr indent="0" lvl="0" marL="0" rtl="0" algn="ctr">
              <a:spcBef>
                <a:spcPts val="0"/>
              </a:spcBef>
              <a:spcAft>
                <a:spcPts val="0"/>
              </a:spcAft>
              <a:buNone/>
            </a:pPr>
            <a:r>
              <a:rPr lang="en"/>
              <a:t>Turnaround time, </a:t>
            </a:r>
            <a:endParaRPr/>
          </a:p>
          <a:p>
            <a:pPr indent="0" lvl="0" marL="0" rtl="0" algn="ctr">
              <a:spcBef>
                <a:spcPts val="0"/>
              </a:spcBef>
              <a:spcAft>
                <a:spcPts val="0"/>
              </a:spcAft>
              <a:buNone/>
            </a:pPr>
            <a:r>
              <a:rPr lang="en"/>
              <a:t>	Cpu idle time, </a:t>
            </a:r>
            <a:endParaRPr/>
          </a:p>
          <a:p>
            <a:pPr indent="0" lvl="0" marL="0" rtl="0" algn="ctr">
              <a:spcBef>
                <a:spcPts val="0"/>
              </a:spcBef>
              <a:spcAft>
                <a:spcPts val="0"/>
              </a:spcAft>
              <a:buNone/>
            </a:pPr>
            <a:r>
              <a:rPr lang="en"/>
              <a:t>Burst time.</a:t>
            </a:r>
            <a:endParaRPr/>
          </a:p>
        </p:txBody>
      </p:sp>
      <p:sp>
        <p:nvSpPr>
          <p:cNvPr id="325" name="Google Shape;325;p56"/>
          <p:cNvSpPr txBox="1"/>
          <p:nvPr/>
        </p:nvSpPr>
        <p:spPr>
          <a:xfrm>
            <a:off x="6595050" y="278250"/>
            <a:ext cx="26055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9D9D9"/>
                </a:solidFill>
              </a:rPr>
              <a:t>ADI</a:t>
            </a:r>
            <a:endParaRPr sz="1800">
              <a:solidFill>
                <a:srgbClr val="D9D9D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