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3c07905b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3c07905b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c68346d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c68346d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c68346d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c68346d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c68346d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c68346d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af7463c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af7463c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b9c1f2a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b9c1f2a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b15bbde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b15bbde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b15bbdea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b15bbdea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c8d3019a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c8d3019a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9c1f2a9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b9c1f2a9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ca36e0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ca36e0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f1fa178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f1fa178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7dadca3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b7dadca3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b7dadca3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b7dadca3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b7dadca3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b7dadca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b7dadca3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b7dadca3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b7dadca3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b7dadca3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3bea24a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3bea24a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ec08a183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ec08a183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d7f9c86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d7f9c86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3bea24ab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3bea24ab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bea24ab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3bea24ab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6569070b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6569070b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b7dadca3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b7dadca3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ec08a183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ec08a183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b7dadca3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b7dadca3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b7dadca3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b7dadca3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ec08a183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ec08a183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3bea24ab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3bea24ab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GPU presentation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If you are confused about simt you can find a tutorial explaining it in the extra learning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cache is a method of memory storage that gets the value from on disk and brings it closer. In cpus there is usually an L1, L2, and L3 cache. </a:t>
            </a:r>
            <a:endParaRPr/>
          </a:p>
          <a:p>
            <a:pPr indent="0" lvl="0" marL="0" rtl="0" algn="l">
              <a:spcBef>
                <a:spcPts val="1200"/>
              </a:spcBef>
              <a:spcAft>
                <a:spcPts val="0"/>
              </a:spcAft>
              <a:buNone/>
            </a:pPr>
            <a:r>
              <a:rPr lang="en"/>
              <a:t>A process is an instance of a program (a bunch of code in storage) being run by the OS. </a:t>
            </a:r>
            <a:endParaRPr/>
          </a:p>
          <a:p>
            <a:pPr indent="0" lvl="0" marL="0" rtl="0" algn="l">
              <a:spcBef>
                <a:spcPts val="1200"/>
              </a:spcBef>
              <a:spcAft>
                <a:spcPts val="1200"/>
              </a:spcAft>
              <a:buNone/>
            </a:pPr>
            <a:r>
              <a:rPr lang="en"/>
              <a:t>The address space of an OS is a range of memory locations that are assigned for a process. Address spaces are split into sections such as the code and data section. The code section stores all the information on how a process is supposed to run while the data section stores memory elements for a process.</a:t>
            </a:r>
            <a:endParaRPr/>
          </a:p>
        </p:txBody>
      </p:sp>
      <p:sp>
        <p:nvSpPr>
          <p:cNvPr id="62" name="Google Shape;62;p14"/>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Processes have a lifecycle which they go through. A simple example is a ready, running, blocked/waiting, terminated lifecycle. In this example a process would be loaded in and become ready. When it is chosen to run it would run until it stops and becomes terminated or more likely when it needs i/o or information that it doesn’t have it goes into the blocked/waiting cycle. When the information is ready the process becomes ready again and the cycle continues.</a:t>
            </a:r>
            <a:endParaRPr/>
          </a:p>
          <a:p>
            <a:pPr indent="0" lvl="0" marL="0" rtl="0" algn="l">
              <a:spcBef>
                <a:spcPts val="1200"/>
              </a:spcBef>
              <a:spcAft>
                <a:spcPts val="1200"/>
              </a:spcAft>
              <a:buClr>
                <a:schemeClr val="dk1"/>
              </a:buClr>
              <a:buSzPts val="1100"/>
              <a:buFont typeface="Arial"/>
              <a:buNone/>
            </a:pPr>
            <a:r>
              <a:rPr lang="en"/>
              <a:t>A cpu instruction cycle works by first fetching the instruction that needs to be run before decoding the instruction to send it to the correct part of the cpu. When it is sent it starts to execute and the cycle continues.</a:t>
            </a:r>
            <a:endParaRPr/>
          </a:p>
        </p:txBody>
      </p:sp>
      <p:sp>
        <p:nvSpPr>
          <p:cNvPr id="69" name="Google Shape;69;p15"/>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Parallelism is the ability to perform multiple operations simultaneously.</a:t>
            </a:r>
            <a:endParaRPr/>
          </a:p>
          <a:p>
            <a:pPr indent="0" lvl="0" marL="0" rtl="0" algn="l">
              <a:spcBef>
                <a:spcPts val="1200"/>
              </a:spcBef>
              <a:spcAft>
                <a:spcPts val="0"/>
              </a:spcAft>
              <a:buNone/>
            </a:pPr>
            <a:r>
              <a:rPr lang="en"/>
              <a:t>One from of p</a:t>
            </a:r>
            <a:r>
              <a:rPr lang="en"/>
              <a:t>arallelism happens because all of the steps in the instruction cycle only require the input of the previous step but doesn’t require it to run. </a:t>
            </a:r>
            <a:endParaRPr/>
          </a:p>
          <a:p>
            <a:pPr indent="0" lvl="0" marL="0" rtl="0" algn="l">
              <a:spcBef>
                <a:spcPts val="1200"/>
              </a:spcBef>
              <a:spcAft>
                <a:spcPts val="1200"/>
              </a:spcAft>
              <a:buNone/>
            </a:pPr>
            <a:r>
              <a:rPr lang="en"/>
              <a:t>For example the decode step needs the fetched instruction but after the instruction is given the fetch step doesn’t need to run. For this reason the steps are run altogether with the fetch step giving the information to the decode step and then running again so that when the decode step gives its information off to the execute step it can be run again with the information that the fetch step has gotten in the meantime.</a:t>
            </a:r>
            <a:endParaRPr/>
          </a:p>
        </p:txBody>
      </p:sp>
      <p:sp>
        <p:nvSpPr>
          <p:cNvPr id="76" name="Google Shape;76;p16"/>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 compiler translates a program into machine code or instructions that the cpu can work with. Most compilers nowadays optimize code to be faster by making them contain less actual instructions and optimizing how they access memory. </a:t>
            </a:r>
            <a:endParaRPr/>
          </a:p>
          <a:p>
            <a:pPr indent="0" lvl="0" marL="0" rtl="0" algn="l">
              <a:spcBef>
                <a:spcPts val="1200"/>
              </a:spcBef>
              <a:spcAft>
                <a:spcPts val="1200"/>
              </a:spcAft>
              <a:buNone/>
            </a:pPr>
            <a:r>
              <a:rPr lang="en"/>
              <a:t>The most simple definition of a thread is multiple processes being running </a:t>
            </a:r>
            <a:r>
              <a:rPr lang="en"/>
              <a:t>simultaneously</a:t>
            </a:r>
            <a:r>
              <a:rPr lang="en"/>
              <a:t> in the same address space. They share their data sections with each other and this causes problems that need to be handled with certain techniques that will be talked about later.</a:t>
            </a:r>
            <a:endParaRPr/>
          </a:p>
        </p:txBody>
      </p:sp>
      <p:sp>
        <p:nvSpPr>
          <p:cNvPr id="83" name="Google Shape;83;p17"/>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Integrated vs stand-alone gpus</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Gpus are sometimes integrated into a computer so that they stand with the cpu and share memory. One example would be the Intel I9, with </a:t>
            </a:r>
            <a:r>
              <a:rPr lang="en"/>
              <a:t>integrated</a:t>
            </a:r>
            <a:r>
              <a:rPr lang="en"/>
              <a:t> a GPU in the CPU. Stand-alone gpus (sometimes called discrete gpus) have their own memory resources and are connected to the cpu &amp; motherboard externally (most times through PCIe such as 2080 TI that you can plug into your motherboard). </a:t>
            </a:r>
            <a:endParaRPr b="1"/>
          </a:p>
          <a:p>
            <a:pPr indent="0" lvl="0" marL="0" rtl="0" algn="l">
              <a:spcBef>
                <a:spcPts val="1200"/>
              </a:spcBef>
              <a:spcAft>
                <a:spcPts val="1200"/>
              </a:spcAft>
              <a:buNone/>
            </a:pPr>
            <a:r>
              <a:rPr lang="en"/>
              <a:t>Gpus usually assume there is a cpu because gpus are </a:t>
            </a:r>
            <a:r>
              <a:rPr lang="en"/>
              <a:t>hyper specialized</a:t>
            </a:r>
            <a:r>
              <a:rPr lang="en"/>
              <a:t> to work in parallel as it is more efficient to focus on assigning the instructions given than </a:t>
            </a:r>
            <a:r>
              <a:rPr lang="en"/>
              <a:t>building</a:t>
            </a:r>
            <a:r>
              <a:rPr lang="en"/>
              <a:t> a different module that can handle running a computer on its own. </a:t>
            </a:r>
            <a:endParaRPr/>
          </a:p>
        </p:txBody>
      </p:sp>
      <p:sp>
        <p:nvSpPr>
          <p:cNvPr id="90" name="Google Shape;90;p18"/>
          <p:cNvSpPr txBox="1"/>
          <p:nvPr/>
        </p:nvSpPr>
        <p:spPr>
          <a:xfrm>
            <a:off x="6083565"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Gpu/cpu interaction</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The cpu sends an instruction to the gpu and allocates memory for use by the gpu using the gpus drivers. Then the cpu uses the kernel to tell the gpu what to run. </a:t>
            </a:r>
            <a:endParaRPr/>
          </a:p>
          <a:p>
            <a:pPr indent="0" lvl="0" marL="0" rtl="0" algn="l">
              <a:spcBef>
                <a:spcPts val="1200"/>
              </a:spcBef>
              <a:spcAft>
                <a:spcPts val="0"/>
              </a:spcAft>
              <a:buNone/>
            </a:pPr>
            <a:r>
              <a:rPr lang="en"/>
              <a:t>Gpus are optimized to be very specialized for very repetitive tasks because of they were originally intended for graphics processing.</a:t>
            </a:r>
            <a:endParaRPr/>
          </a:p>
          <a:p>
            <a:pPr indent="0" lvl="0" marL="0" rtl="0" algn="l">
              <a:spcBef>
                <a:spcPts val="1200"/>
              </a:spcBef>
              <a:spcAft>
                <a:spcPts val="0"/>
              </a:spcAft>
              <a:buNone/>
            </a:pPr>
            <a:r>
              <a:rPr lang="en"/>
              <a:t>The way gpus do this is by utilizing threading with vector registers. A </a:t>
            </a:r>
            <a:r>
              <a:rPr lang="en"/>
              <a:t>regular</a:t>
            </a:r>
            <a:r>
              <a:rPr lang="en"/>
              <a:t> register from what you might be familiar with are also called a scalar register, meaning it only holds 1 </a:t>
            </a:r>
            <a:r>
              <a:rPr lang="en"/>
              <a:t>value</a:t>
            </a:r>
            <a:r>
              <a:rPr lang="en"/>
              <a:t>. A vector register holds multiple values. Then a select </a:t>
            </a:r>
            <a:r>
              <a:rPr lang="en"/>
              <a:t>number</a:t>
            </a:r>
            <a:r>
              <a:rPr lang="en"/>
              <a:t> of threads are “combined” into warps(NVIDIA) or wavefronts(AMD) and are run together. </a:t>
            </a:r>
            <a:endParaRPr/>
          </a:p>
          <a:p>
            <a:pPr indent="0" lvl="0" marL="0" rtl="0" algn="l">
              <a:spcBef>
                <a:spcPts val="1200"/>
              </a:spcBef>
              <a:spcAft>
                <a:spcPts val="1200"/>
              </a:spcAft>
              <a:buNone/>
            </a:pPr>
            <a:r>
              <a:rPr lang="en"/>
              <a:t>Programs are written as if there is only 1 thread and the hardware later runs them with multiple threads.</a:t>
            </a:r>
            <a:endParaRPr/>
          </a:p>
        </p:txBody>
      </p:sp>
      <p:sp>
        <p:nvSpPr>
          <p:cNvPr id="97" name="Google Shape;97;p19"/>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 manufacturers</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using a gpu you are very much at the mercy of your gpu manufacturers. AMD and Nvidia are the main ones you will run into and you can code for you gpu with Cuda and OpenCL and are </a:t>
            </a:r>
            <a:r>
              <a:rPr lang="en"/>
              <a:t>translated to languages such as </a:t>
            </a:r>
            <a:r>
              <a:rPr lang="en">
                <a:highlight>
                  <a:srgbClr val="F3F3F3"/>
                </a:highlight>
              </a:rPr>
              <a:t>PTX assembly(assembly for threads)</a:t>
            </a:r>
            <a:r>
              <a:rPr lang="en"/>
              <a:t>. </a:t>
            </a:r>
            <a:endParaRPr/>
          </a:p>
          <a:p>
            <a:pPr indent="0" lvl="0" marL="0" rtl="0" algn="l">
              <a:spcBef>
                <a:spcPts val="1200"/>
              </a:spcBef>
              <a:spcAft>
                <a:spcPts val="1200"/>
              </a:spcAft>
              <a:buNone/>
            </a:pPr>
            <a:r>
              <a:rPr lang="en"/>
              <a:t>We can assume general implementations (i.e. the general purpose on gpu or gpgpu) such as </a:t>
            </a:r>
            <a:r>
              <a:rPr lang="en">
                <a:highlight>
                  <a:srgbClr val="F3F3F3"/>
                </a:highlight>
              </a:rPr>
              <a:t>having to work with memory being accessed by multiple threads</a:t>
            </a:r>
            <a:r>
              <a:rPr lang="en"/>
              <a:t>. </a:t>
            </a:r>
            <a:r>
              <a:rPr lang="en">
                <a:highlight>
                  <a:srgbClr val="F3F3F3"/>
                </a:highlight>
              </a:rPr>
              <a:t>An example of how they mitigated this problem is by using a cache that is built to miss a lot</a:t>
            </a:r>
            <a:r>
              <a:rPr lang="en"/>
              <a:t> is an effective way of getting relevant information close to the execution units is used in gpus in order to bridge these extremes (pg 41).</a:t>
            </a:r>
            <a:endParaRPr/>
          </a:p>
        </p:txBody>
      </p:sp>
      <p:sp>
        <p:nvSpPr>
          <p:cNvPr id="104" name="Google Shape;104;p20"/>
          <p:cNvSpPr txBox="1"/>
          <p:nvPr/>
        </p:nvSpPr>
        <p:spPr>
          <a:xfrm>
            <a:off x="607190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 instruction cycle</a:t>
            </a:r>
            <a:endParaRPr/>
          </a:p>
        </p:txBody>
      </p:sp>
      <p:sp>
        <p:nvSpPr>
          <p:cNvPr id="110" name="Google Shape;110;p21"/>
          <p:cNvSpPr txBox="1"/>
          <p:nvPr>
            <p:ph idx="1" type="body"/>
          </p:nvPr>
        </p:nvSpPr>
        <p:spPr>
          <a:xfrm>
            <a:off x="311700" y="1325400"/>
            <a:ext cx="8520600" cy="338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gpu has 3 stage parallel design with the instruction fetch and a decode which are both used in the simt portion of the design and an execute which uses simd. </a:t>
            </a:r>
            <a:endParaRPr/>
          </a:p>
          <a:p>
            <a:pPr indent="0" lvl="0" marL="0" rtl="0" algn="l">
              <a:spcBef>
                <a:spcPts val="1200"/>
              </a:spcBef>
              <a:spcAft>
                <a:spcPts val="0"/>
              </a:spcAft>
              <a:buNone/>
            </a:pPr>
            <a:r>
              <a:rPr lang="en"/>
              <a:t>An SM would fetch the instruction from a program counter to be run by the gpu. </a:t>
            </a:r>
            <a:endParaRPr/>
          </a:p>
          <a:p>
            <a:pPr indent="0" lvl="0" marL="0" rtl="0" algn="l">
              <a:spcBef>
                <a:spcPts val="1200"/>
              </a:spcBef>
              <a:spcAft>
                <a:spcPts val="0"/>
              </a:spcAft>
              <a:buNone/>
            </a:pPr>
            <a:r>
              <a:rPr lang="en"/>
              <a:t>SIMT means Single input multiple threads and will involve a single instruction that is given to multiple threads. </a:t>
            </a:r>
            <a:endParaRPr/>
          </a:p>
          <a:p>
            <a:pPr indent="0" lvl="0" marL="0" rtl="0" algn="l">
              <a:spcBef>
                <a:spcPts val="1200"/>
              </a:spcBef>
              <a:spcAft>
                <a:spcPts val="0"/>
              </a:spcAft>
              <a:buNone/>
            </a:pPr>
            <a:r>
              <a:rPr lang="en"/>
              <a:t>SIMD means Single input multiple data and will be discussed later.</a:t>
            </a:r>
            <a:endParaRPr/>
          </a:p>
          <a:p>
            <a:pPr indent="0" lvl="0" marL="0" rtl="0" algn="l">
              <a:spcBef>
                <a:spcPts val="1200"/>
              </a:spcBef>
              <a:spcAft>
                <a:spcPts val="1200"/>
              </a:spcAft>
              <a:buNone/>
            </a:pPr>
            <a:r>
              <a:rPr lang="en"/>
              <a:t>Gpus schedule by warps/wavefronts instead of processes like cpus. </a:t>
            </a:r>
            <a:endParaRPr/>
          </a:p>
        </p:txBody>
      </p:sp>
      <p:sp>
        <p:nvSpPr>
          <p:cNvPr id="111" name="Google Shape;111;p21"/>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 Components</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
            </a:r>
            <a:r>
              <a:rPr lang="en"/>
              <a:t>physical</a:t>
            </a:r>
            <a:r>
              <a:rPr lang="en"/>
              <a:t> components of a GPU are the streaming multiprocessor(SM) or the compute unit(CU). </a:t>
            </a:r>
            <a:r>
              <a:rPr lang="en"/>
              <a:t>SMs can be thought of in a similar way to a cpu core. They store multiple alus, fpus, and other necessary things for threading on a gpu. Modern gpus have 100-144 SMs. These SMs are grouped into a Graphics processing Cluster (GPC).</a:t>
            </a:r>
            <a:endParaRPr/>
          </a:p>
          <a:p>
            <a:pPr indent="0" lvl="0" marL="0" rtl="0" algn="l">
              <a:spcBef>
                <a:spcPts val="1200"/>
              </a:spcBef>
              <a:spcAft>
                <a:spcPts val="0"/>
              </a:spcAft>
              <a:buNone/>
            </a:pPr>
            <a:r>
              <a:rPr lang="en"/>
              <a:t>The L2 cache is shared across SMs however the L1 cache is not.</a:t>
            </a:r>
            <a:endParaRPr/>
          </a:p>
          <a:p>
            <a:pPr indent="0" lvl="0" marL="0" rtl="0" algn="l">
              <a:spcBef>
                <a:spcPts val="1200"/>
              </a:spcBef>
              <a:spcAft>
                <a:spcPts val="1200"/>
              </a:spcAft>
              <a:buNone/>
            </a:pPr>
            <a:r>
              <a:t/>
            </a:r>
            <a:endParaRPr/>
          </a:p>
        </p:txBody>
      </p:sp>
      <p:sp>
        <p:nvSpPr>
          <p:cNvPr id="118" name="Google Shape;118;p22"/>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SIMT intro</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instruction is run on every single thread in a warp with each not necessarily having the same data fed into them</a:t>
            </a:r>
            <a:r>
              <a:rPr lang="en"/>
              <a:t>, but they operate the same instruction.</a:t>
            </a:r>
            <a:endParaRPr/>
          </a:p>
          <a:p>
            <a:pPr indent="0" lvl="0" marL="0" rtl="0" algn="l">
              <a:spcBef>
                <a:spcPts val="1200"/>
              </a:spcBef>
              <a:spcAft>
                <a:spcPts val="0"/>
              </a:spcAft>
              <a:buNone/>
            </a:pPr>
            <a:r>
              <a:rPr lang="en"/>
              <a:t>For example one thread may execute [add register1,2] another may execute [add register1, 3] and another may execute [add register1, 2]. </a:t>
            </a:r>
            <a:endParaRPr/>
          </a:p>
          <a:p>
            <a:pPr indent="0" lvl="0" marL="0" rtl="0" algn="l">
              <a:spcBef>
                <a:spcPts val="1200"/>
              </a:spcBef>
              <a:spcAft>
                <a:spcPts val="1200"/>
              </a:spcAft>
              <a:buNone/>
            </a:pPr>
            <a:r>
              <a:rPr lang="en"/>
              <a:t>The main purpose of SIMT is to be a software abstraction.</a:t>
            </a:r>
            <a:endParaRPr/>
          </a:p>
        </p:txBody>
      </p:sp>
      <p:sp>
        <p:nvSpPr>
          <p:cNvPr id="125" name="Google Shape;125;p23"/>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What would mess up </a:t>
            </a:r>
            <a:r>
              <a:rPr lang="en" sz="1800">
                <a:solidFill>
                  <a:schemeClr val="dk2"/>
                </a:solidFill>
              </a:rPr>
              <a:t>the SIMT flow?</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Specifically what would mess up all these threads running the same instructions at the same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answer</a:t>
            </a:r>
            <a:endParaRPr/>
          </a:p>
        </p:txBody>
      </p:sp>
      <p:sp>
        <p:nvSpPr>
          <p:cNvPr id="137" name="Google Shape;13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Conditionals (if-statements). If-statements would mess the execution because one thread may recognize the condition as true while another may recognize it is as false due to all threads being fed different data. In these case two </a:t>
            </a:r>
            <a:r>
              <a:rPr lang="en"/>
              <a:t>different</a:t>
            </a:r>
            <a:r>
              <a:rPr lang="en"/>
              <a:t> paths would be run.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SIMT during execution</a:t>
            </a:r>
            <a:endParaRPr/>
          </a:p>
        </p:txBody>
      </p:sp>
      <p:sp>
        <p:nvSpPr>
          <p:cNvPr id="143" name="Google Shape;143;p26"/>
          <p:cNvSpPr txBox="1"/>
          <p:nvPr>
            <p:ph idx="1" type="body"/>
          </p:nvPr>
        </p:nvSpPr>
        <p:spPr>
          <a:xfrm>
            <a:off x="311700" y="1162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When the threads come across a conditional then the thread execution branches into two groups, the ones that do execute the conditional and the ones that don’t. </a:t>
            </a:r>
            <a:endParaRPr/>
          </a:p>
          <a:p>
            <a:pPr indent="0" lvl="0" marL="0" rtl="0" algn="l">
              <a:spcBef>
                <a:spcPts val="1200"/>
              </a:spcBef>
              <a:spcAft>
                <a:spcPts val="0"/>
              </a:spcAft>
              <a:buNone/>
            </a:pPr>
            <a:r>
              <a:rPr lang="en"/>
              <a:t>The branching is called a thread divergence and it involves the executing group of the not executing group (whichever the designers feel like) running all threads in that group. </a:t>
            </a:r>
            <a:endParaRPr/>
          </a:p>
          <a:p>
            <a:pPr indent="0" lvl="0" marL="0" rtl="0" algn="l">
              <a:spcBef>
                <a:spcPts val="1200"/>
              </a:spcBef>
              <a:spcAft>
                <a:spcPts val="1200"/>
              </a:spcAft>
              <a:buNone/>
            </a:pPr>
            <a:r>
              <a:rPr lang="en"/>
              <a:t>Let’s assume that we want to run the execute group first. If we have a branch if equal instruction and </a:t>
            </a:r>
            <a:r>
              <a:rPr lang="en"/>
              <a:t>threads 1 and 2 are equal and threads 3 and 4 are not then threads 1 and 2 will execute until they reach another branch. Then branches 3 and 4 would run. </a:t>
            </a:r>
            <a:endParaRPr/>
          </a:p>
        </p:txBody>
      </p:sp>
      <p:sp>
        <p:nvSpPr>
          <p:cNvPr id="144" name="Google Shape;144;p26"/>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CPU Threading</a:t>
            </a:r>
            <a:endParaRPr/>
          </a:p>
        </p:txBody>
      </p:sp>
      <p:sp>
        <p:nvSpPr>
          <p:cNvPr id="150" name="Google Shape;15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Older versions of gpus used a stack to determine which location to go to next. However there was a problem of threading of “simt deadlock”. </a:t>
            </a:r>
            <a:endParaRPr/>
          </a:p>
          <a:p>
            <a:pPr indent="0" lvl="0" marL="0" rtl="0" algn="l">
              <a:spcBef>
                <a:spcPts val="1200"/>
              </a:spcBef>
              <a:spcAft>
                <a:spcPts val="0"/>
              </a:spcAft>
              <a:buNone/>
            </a:pPr>
            <a:r>
              <a:rPr lang="en"/>
              <a:t>To understand simt deadlock we must understand locking of threads. In cpus when threads are about to access something that has a risk of being accessed by multiple threads and therefore modified in a way that we make it so only one thread runs. </a:t>
            </a:r>
            <a:endParaRPr/>
          </a:p>
          <a:p>
            <a:pPr indent="0" lvl="0" marL="0" rtl="0" algn="l">
              <a:spcBef>
                <a:spcPts val="1200"/>
              </a:spcBef>
              <a:spcAft>
                <a:spcPts val="1200"/>
              </a:spcAft>
              <a:buNone/>
            </a:pPr>
            <a:r>
              <a:rPr lang="en"/>
              <a:t>Normally this wouldn’t be a problem because the lock is eventually removed but if the thread stops running before it unlocks it then nothing will ever </a:t>
            </a:r>
            <a:r>
              <a:rPr lang="en"/>
              <a:t>happen. Modern gpus use a different system.</a:t>
            </a:r>
            <a:endParaRPr/>
          </a:p>
        </p:txBody>
      </p:sp>
      <p:sp>
        <p:nvSpPr>
          <p:cNvPr id="151" name="Google Shape;151;p27"/>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When the branches come back together they perform what is called a thread convergence. When this happens all threads run together again. </a:t>
            </a:r>
            <a:endParaRPr/>
          </a:p>
          <a:p>
            <a:pPr indent="0" lvl="0" marL="0" rtl="0" algn="l">
              <a:spcBef>
                <a:spcPts val="1200"/>
              </a:spcBef>
              <a:spcAft>
                <a:spcPts val="0"/>
              </a:spcAft>
              <a:buNone/>
            </a:pPr>
            <a:r>
              <a:rPr lang="en"/>
              <a:t>The mechanism that reconverges threads is called a barrier protection mask in conjunction with a barrier state field to “map out” the points where branches happen ahead of time. </a:t>
            </a:r>
            <a:endParaRPr/>
          </a:p>
          <a:p>
            <a:pPr indent="0" lvl="0" marL="0" rtl="0" algn="l">
              <a:spcBef>
                <a:spcPts val="1200"/>
              </a:spcBef>
              <a:spcAft>
                <a:spcPts val="1200"/>
              </a:spcAft>
              <a:buNone/>
            </a:pPr>
            <a:r>
              <a:rPr lang="en"/>
              <a:t>A thread state is used to determine whether threads in a warp are yielded, at a convergence barrier or ready. A thread rPC state, which is on every thread in the warp, tells the next location to branch to when the next branch divergence or convergence happens. The thread active field is specifically for specifying if a thread is active or not. </a:t>
            </a:r>
            <a:endParaRPr/>
          </a:p>
        </p:txBody>
      </p:sp>
      <p:sp>
        <p:nvSpPr>
          <p:cNvPr id="157" name="Google Shape;15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SIMT</a:t>
            </a:r>
            <a:endParaRPr/>
          </a:p>
        </p:txBody>
      </p:sp>
      <p:sp>
        <p:nvSpPr>
          <p:cNvPr id="158" name="Google Shape;158;p28"/>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SIMD</a:t>
            </a:r>
            <a:endParaRPr/>
          </a:p>
        </p:txBody>
      </p:sp>
      <p:sp>
        <p:nvSpPr>
          <p:cNvPr id="164" name="Google Shape;16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SIMD is also prevalent in cpus it can guessed to be similar enough. </a:t>
            </a:r>
            <a:endParaRPr/>
          </a:p>
          <a:p>
            <a:pPr indent="0" lvl="0" marL="0" rtl="0" algn="l">
              <a:spcBef>
                <a:spcPts val="1200"/>
              </a:spcBef>
              <a:spcAft>
                <a:spcPts val="0"/>
              </a:spcAft>
              <a:buNone/>
            </a:pPr>
            <a:r>
              <a:rPr lang="en"/>
              <a:t>The SIMD/vector registers work by having “packing” registers or taking multiples of the actual number of bits in the register.</a:t>
            </a:r>
            <a:endParaRPr/>
          </a:p>
          <a:p>
            <a:pPr indent="0" lvl="0" marL="0" rtl="0" algn="l">
              <a:spcBef>
                <a:spcPts val="1200"/>
              </a:spcBef>
              <a:spcAft>
                <a:spcPts val="1200"/>
              </a:spcAft>
              <a:buNone/>
            </a:pPr>
            <a:r>
              <a:rPr lang="en"/>
              <a:t>For example a 128 bit SIMD register may take 4 32 bit inputs and stuff them together in one register. </a:t>
            </a:r>
            <a:endParaRPr/>
          </a:p>
        </p:txBody>
      </p:sp>
      <p:sp>
        <p:nvSpPr>
          <p:cNvPr id="165" name="Google Shape;165;p29"/>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SIMD</a:t>
            </a:r>
            <a:endParaRPr/>
          </a:p>
        </p:txBody>
      </p:sp>
      <p:sp>
        <p:nvSpPr>
          <p:cNvPr id="171" name="Google Shape;17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These registers then apply the operation that was done during the SIMT portion. </a:t>
            </a:r>
            <a:endParaRPr/>
          </a:p>
          <a:p>
            <a:pPr indent="0" lvl="0" marL="0" rtl="0" algn="l">
              <a:spcBef>
                <a:spcPts val="1200"/>
              </a:spcBef>
              <a:spcAft>
                <a:spcPts val="0"/>
              </a:spcAft>
              <a:buNone/>
            </a:pPr>
            <a:r>
              <a:rPr lang="en"/>
              <a:t>For example if the SIMT portion added numbers then the SIMD will also add.</a:t>
            </a:r>
            <a:endParaRPr/>
          </a:p>
          <a:p>
            <a:pPr indent="0" lvl="0" marL="0" rtl="0" algn="l">
              <a:spcBef>
                <a:spcPts val="1200"/>
              </a:spcBef>
              <a:spcAft>
                <a:spcPts val="0"/>
              </a:spcAft>
              <a:buNone/>
            </a:pPr>
            <a:r>
              <a:rPr lang="en"/>
              <a:t>These additions would be done over input given by the individual threads, so all threads might not get the exact same numbers to add. </a:t>
            </a:r>
            <a:endParaRPr/>
          </a:p>
          <a:p>
            <a:pPr indent="0" lvl="0" marL="0" rtl="0" algn="l">
              <a:spcBef>
                <a:spcPts val="1200"/>
              </a:spcBef>
              <a:spcAft>
                <a:spcPts val="1200"/>
              </a:spcAft>
              <a:buClr>
                <a:schemeClr val="dk1"/>
              </a:buClr>
              <a:buSzPts val="1100"/>
              <a:buFont typeface="Arial"/>
              <a:buNone/>
            </a:pPr>
            <a:r>
              <a:rPr lang="en"/>
              <a:t>Simd is also very commonly present in cpus with intel cpus using avx (advanced vector extension), sse and mmx. The simt will forward the input with the control flow handled while the simd is able to do all of the traditional maths. </a:t>
            </a:r>
            <a:endParaRPr/>
          </a:p>
        </p:txBody>
      </p:sp>
      <p:sp>
        <p:nvSpPr>
          <p:cNvPr id="172" name="Google Shape;172;p30"/>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Banking</a:t>
            </a:r>
            <a:endParaRPr/>
          </a:p>
        </p:txBody>
      </p:sp>
      <p:sp>
        <p:nvSpPr>
          <p:cNvPr id="178" name="Google Shape;17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Gpus use banks to group register files together to access them in parallel.</a:t>
            </a:r>
            <a:endParaRPr/>
          </a:p>
          <a:p>
            <a:pPr indent="0" lvl="0" marL="0" rtl="0" algn="l">
              <a:spcBef>
                <a:spcPts val="1200"/>
              </a:spcBef>
              <a:spcAft>
                <a:spcPts val="0"/>
              </a:spcAft>
              <a:buNone/>
            </a:pPr>
            <a:r>
              <a:rPr lang="en"/>
              <a:t>A gpu uses a system where an input is given to an arbiter which selects a register to be read/written from </a:t>
            </a:r>
            <a:r>
              <a:rPr lang="en"/>
              <a:t>multiple</a:t>
            </a:r>
            <a:r>
              <a:rPr lang="en"/>
              <a:t> connected register files called banks and sends </a:t>
            </a:r>
            <a:r>
              <a:rPr lang="en"/>
              <a:t>them to the execution units via a crossbar.</a:t>
            </a:r>
            <a:endParaRPr/>
          </a:p>
          <a:p>
            <a:pPr indent="0" lvl="0" marL="0" rtl="0" algn="l">
              <a:spcBef>
                <a:spcPts val="1200"/>
              </a:spcBef>
              <a:spcAft>
                <a:spcPts val="0"/>
              </a:spcAft>
              <a:buNone/>
            </a:pPr>
            <a:r>
              <a:rPr lang="en"/>
              <a:t>This does not allow for the reading of multiple registers from one bank. In the worst cases this can cause extreme inefficiency. For that reason an operand collector is used to schedule the reads so that the maximum number of registers can be read per cycle. (pg 58)</a:t>
            </a:r>
            <a:endParaRPr/>
          </a:p>
          <a:p>
            <a:pPr indent="0" lvl="0" marL="0" rtl="0" algn="l">
              <a:spcBef>
                <a:spcPts val="1200"/>
              </a:spcBef>
              <a:spcAft>
                <a:spcPts val="1200"/>
              </a:spcAft>
              <a:buNone/>
            </a:pPr>
            <a:r>
              <a:rPr lang="en"/>
              <a:t>Implementing this can cause significant hazards however there are certain things that can be done to fix it that we won’t cover (pg 60). </a:t>
            </a:r>
            <a:endParaRPr/>
          </a:p>
        </p:txBody>
      </p:sp>
      <p:sp>
        <p:nvSpPr>
          <p:cNvPr id="179" name="Google Shape;179;p31"/>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Swizzled Banks</a:t>
            </a:r>
            <a:endParaRPr/>
          </a:p>
        </p:txBody>
      </p:sp>
      <p:sp>
        <p:nvSpPr>
          <p:cNvPr id="185" name="Google Shape;18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Banks are swizzled meaning that register files will not be stacked on top of each other in the same way. The register files will be stacked in a “mod 1 fashion”.</a:t>
            </a:r>
            <a:endParaRPr/>
          </a:p>
          <a:p>
            <a:pPr indent="0" lvl="0" marL="0" rtl="0" algn="l">
              <a:spcBef>
                <a:spcPts val="1200"/>
              </a:spcBef>
              <a:spcAft>
                <a:spcPts val="0"/>
              </a:spcAft>
              <a:buNone/>
            </a:pPr>
            <a:r>
              <a:rPr lang="en"/>
              <a:t>What that means is that a theoretical 4x4 register file will start will go from register1 to register 16 with the bottom leftmost part of the 4x4 grid being filled up by register1 and the registers continuing till the grid is full. The register file on top of that one will however start from register 16 at its bottom leftmost grid space and the right grid space will house register 1. </a:t>
            </a:r>
            <a:endParaRPr/>
          </a:p>
          <a:p>
            <a:pPr indent="0" lvl="0" marL="0" rtl="0" algn="l">
              <a:spcBef>
                <a:spcPts val="1200"/>
              </a:spcBef>
              <a:spcAft>
                <a:spcPts val="1200"/>
              </a:spcAft>
              <a:buClr>
                <a:schemeClr val="dk1"/>
              </a:buClr>
              <a:buSzPts val="1100"/>
              <a:buFont typeface="Arial"/>
              <a:buNone/>
            </a:pPr>
            <a:r>
              <a:rPr lang="en"/>
              <a:t>This is done so that threads will not all access the same register and have a bank conflict for every single thread.</a:t>
            </a:r>
            <a:endParaRPr/>
          </a:p>
        </p:txBody>
      </p:sp>
      <p:sp>
        <p:nvSpPr>
          <p:cNvPr id="186" name="Google Shape;186;p32"/>
          <p:cNvSpPr txBox="1"/>
          <p:nvPr/>
        </p:nvSpPr>
        <p:spPr>
          <a:xfrm>
            <a:off x="6028000" y="391675"/>
            <a:ext cx="2216700" cy="5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Operand Collector</a:t>
            </a:r>
            <a:endParaRPr/>
          </a:p>
        </p:txBody>
      </p:sp>
      <p:sp>
        <p:nvSpPr>
          <p:cNvPr id="192" name="Google Shape;19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operand collector runs after the simt has taken its course. The use of the operand collector is to allow banking to happen more effectively. This is done by getting the values that instructions need to run strategically into the bank so that multiple warps can read their specific instructions </a:t>
            </a:r>
            <a:r>
              <a:rPr lang="en"/>
              <a:t>simultaneously</a:t>
            </a:r>
            <a:r>
              <a:rPr lang="en"/>
              <a:t>.</a:t>
            </a:r>
            <a:endParaRPr/>
          </a:p>
          <a:p>
            <a:pPr indent="0" lvl="0" marL="0" rtl="0" algn="l">
              <a:spcBef>
                <a:spcPts val="1200"/>
              </a:spcBef>
              <a:spcAft>
                <a:spcPts val="1200"/>
              </a:spcAft>
              <a:buNone/>
            </a:pPr>
            <a:r>
              <a:rPr lang="en"/>
              <a:t>For example if warp1 wants to access [register1] and [register5] and warp2 wants to access [register1] and [register2] then the first cycle of the instruction would get the instructions for warp2 and register1 from warp1. Assuming we have a 4 port bank this is done because of the swizzled bank and because register1 and register5 can both be read </a:t>
            </a:r>
            <a:r>
              <a:rPr lang="en"/>
              <a:t>simultaneously</a:t>
            </a:r>
            <a:r>
              <a:rPr lang="en"/>
              <a:t>.</a:t>
            </a:r>
            <a:endParaRPr/>
          </a:p>
        </p:txBody>
      </p:sp>
      <p:sp>
        <p:nvSpPr>
          <p:cNvPr id="193" name="Google Shape;193;p33"/>
          <p:cNvSpPr txBox="1"/>
          <p:nvPr/>
        </p:nvSpPr>
        <p:spPr>
          <a:xfrm>
            <a:off x="6167900" y="359400"/>
            <a:ext cx="2109000" cy="5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Scratchpad memory which is managed by the programmer is also present. </a:t>
            </a:r>
            <a:endParaRPr/>
          </a:p>
          <a:p>
            <a:pPr indent="0" lvl="0" marL="0" rtl="0" algn="l">
              <a:spcBef>
                <a:spcPts val="1200"/>
              </a:spcBef>
              <a:spcAft>
                <a:spcPts val="0"/>
              </a:spcAft>
              <a:buNone/>
            </a:pPr>
            <a:r>
              <a:rPr lang="en"/>
              <a:t>Scratchpad memory is direct mapped which means that the memory address is given and the physical location that memory address is tied it. </a:t>
            </a:r>
            <a:endParaRPr/>
          </a:p>
          <a:p>
            <a:pPr indent="0" lvl="0" marL="0" rtl="0" algn="l">
              <a:spcBef>
                <a:spcPts val="1200"/>
              </a:spcBef>
              <a:spcAft>
                <a:spcPts val="1200"/>
              </a:spcAft>
              <a:buNone/>
            </a:pPr>
            <a:r>
              <a:rPr lang="en"/>
              <a:t>When reading/writing with scratchpad memory the arbiter determines whether there is a bank conflict. If there is a bank conflict among some of the threads the threads split into the groups that are and aren’t in conflict. The in-conflict “replays” or sent to the instruction pipeline to be executed again.</a:t>
            </a:r>
            <a:endParaRPr/>
          </a:p>
        </p:txBody>
      </p:sp>
      <p:sp>
        <p:nvSpPr>
          <p:cNvPr id="199" name="Google Shape;19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a:t>
            </a:r>
            <a:endParaRPr/>
          </a:p>
        </p:txBody>
      </p:sp>
      <p:sp>
        <p:nvSpPr>
          <p:cNvPr id="200" name="Google Shape;200;p34"/>
          <p:cNvSpPr txBox="1"/>
          <p:nvPr/>
        </p:nvSpPr>
        <p:spPr>
          <a:xfrm>
            <a:off x="6062250" y="337475"/>
            <a:ext cx="2728200" cy="3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a:t>
            </a:r>
            <a:endParaRPr/>
          </a:p>
        </p:txBody>
      </p:sp>
      <p:sp>
        <p:nvSpPr>
          <p:cNvPr id="206" name="Google Shape;20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When reading from a cache the memory locations that need to be accessed are first “coalesced”. What that means is that locations that are close to each other and will be read in together so as to not have to have multiple reads. The arbiter determines whether the cache can handle a cache miss. </a:t>
            </a:r>
            <a:endParaRPr/>
          </a:p>
          <a:p>
            <a:pPr indent="0" lvl="0" marL="0" rtl="0" algn="l">
              <a:spcBef>
                <a:spcPts val="1200"/>
              </a:spcBef>
              <a:spcAft>
                <a:spcPts val="1200"/>
              </a:spcAft>
              <a:buClr>
                <a:schemeClr val="dk1"/>
              </a:buClr>
              <a:buSzPts val="1100"/>
              <a:buFont typeface="Arial"/>
              <a:buNone/>
            </a:pPr>
            <a:r>
              <a:rPr lang="en"/>
              <a:t>If it can then the cache is checked. If there is a cache hit then the value is written back to the registers. If there is a cache miss then the registers are given a replay order and the request info is sent to a pending request table (PRT). The PRT saves vital information and when the cache miss is resolved the information from the PRT is sent to the registers so that they can call the cache again.</a:t>
            </a:r>
            <a:endParaRPr/>
          </a:p>
        </p:txBody>
      </p:sp>
      <p:sp>
        <p:nvSpPr>
          <p:cNvPr id="207" name="Google Shape;207;p35"/>
          <p:cNvSpPr txBox="1"/>
          <p:nvPr/>
        </p:nvSpPr>
        <p:spPr>
          <a:xfrm>
            <a:off x="5995725" y="391675"/>
            <a:ext cx="22167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L1 Texture Cache</a:t>
            </a:r>
            <a:endParaRPr/>
          </a:p>
        </p:txBody>
      </p:sp>
      <p:sp>
        <p:nvSpPr>
          <p:cNvPr id="213" name="Google Shape;21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Gpus were originally designed for graphics processing so a texture cache is implemented to give memory for textures as fast as possible. It first checks if there is a cache hit or cache miss through a tag array and sends it to one of two FIFO (First in first out) buffers. If there is a cache miss then the FIFO buffer is called the miss request FIFO and it handles requesting information from memory. It then sends it to a reorder buffer which makes it </a:t>
            </a:r>
            <a:r>
              <a:rPr lang="en"/>
              <a:t>acceptable to a controller. </a:t>
            </a:r>
            <a:endParaRPr/>
          </a:p>
          <a:p>
            <a:pPr indent="0" lvl="0" marL="0" rtl="0" algn="l">
              <a:spcBef>
                <a:spcPts val="1200"/>
              </a:spcBef>
              <a:spcAft>
                <a:spcPts val="0"/>
              </a:spcAft>
              <a:buNone/>
            </a:pPr>
            <a:r>
              <a:rPr lang="en"/>
              <a:t>When the data is ready, either after a cache hit or miss then the controller gets it from the cache and sends it to the texture filter which sends it to the registers. </a:t>
            </a:r>
            <a:endParaRPr/>
          </a:p>
          <a:p>
            <a:pPr indent="0" lvl="0" marL="0" rtl="0" algn="l">
              <a:spcBef>
                <a:spcPts val="1200"/>
              </a:spcBef>
              <a:spcAft>
                <a:spcPts val="1200"/>
              </a:spcAft>
              <a:buNone/>
            </a:pPr>
            <a:r>
              <a:rPr lang="en"/>
              <a:t>Modern gpus combine the L1 cache and texture cache. </a:t>
            </a:r>
            <a:endParaRPr/>
          </a:p>
        </p:txBody>
      </p:sp>
      <p:sp>
        <p:nvSpPr>
          <p:cNvPr id="214" name="Google Shape;214;p36"/>
          <p:cNvSpPr txBox="1"/>
          <p:nvPr/>
        </p:nvSpPr>
        <p:spPr>
          <a:xfrm>
            <a:off x="6167900" y="370150"/>
            <a:ext cx="2033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audi</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Parallelism types</a:t>
            </a:r>
            <a:endParaRPr/>
          </a:p>
        </p:txBody>
      </p:sp>
      <p:sp>
        <p:nvSpPr>
          <p:cNvPr id="220" name="Google Shape;22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There are three types of parallelism: instruction level, thread level and data level parallelism. </a:t>
            </a:r>
            <a:endParaRPr/>
          </a:p>
          <a:p>
            <a:pPr indent="0" lvl="0" marL="0" rtl="0" algn="l">
              <a:spcBef>
                <a:spcPts val="1200"/>
              </a:spcBef>
              <a:spcAft>
                <a:spcPts val="0"/>
              </a:spcAft>
              <a:buNone/>
            </a:pPr>
            <a:r>
              <a:rPr lang="en"/>
              <a:t>ILP refers to executing multiple instruction from one thread at once such as pipelining, breaking down the </a:t>
            </a:r>
            <a:r>
              <a:rPr lang="en"/>
              <a:t>execution</a:t>
            </a:r>
            <a:r>
              <a:rPr lang="en"/>
              <a:t> steps to speed up processing, and out of order execution, finding instructions that are not very intensive to </a:t>
            </a:r>
            <a:r>
              <a:rPr lang="en"/>
              <a:t>complete</a:t>
            </a:r>
            <a:r>
              <a:rPr lang="en"/>
              <a:t> and reordering the line of </a:t>
            </a:r>
            <a:r>
              <a:rPr lang="en"/>
              <a:t>execution</a:t>
            </a:r>
            <a:r>
              <a:rPr lang="en"/>
              <a:t> around them to keep threads </a:t>
            </a:r>
            <a:r>
              <a:rPr lang="en"/>
              <a:t>busy</a:t>
            </a:r>
            <a:r>
              <a:rPr lang="en"/>
              <a:t>. </a:t>
            </a:r>
            <a:endParaRPr/>
          </a:p>
          <a:p>
            <a:pPr indent="0" lvl="0" marL="0" rtl="0" algn="l">
              <a:spcBef>
                <a:spcPts val="1200"/>
              </a:spcBef>
              <a:spcAft>
                <a:spcPts val="0"/>
              </a:spcAft>
              <a:buNone/>
            </a:pPr>
            <a:r>
              <a:rPr lang="en"/>
              <a:t>DLP commonly refers performing the same operation on different data points such as SIMD technology </a:t>
            </a:r>
            <a:endParaRPr/>
          </a:p>
          <a:p>
            <a:pPr indent="0" lvl="0" marL="0" rtl="0" algn="l">
              <a:spcBef>
                <a:spcPts val="1200"/>
              </a:spcBef>
              <a:spcAft>
                <a:spcPts val="1200"/>
              </a:spcAft>
              <a:buNone/>
            </a:pPr>
            <a:r>
              <a:rPr lang="en"/>
              <a:t>TLP refers to parallelism across multiple threads or cores.</a:t>
            </a:r>
            <a:endParaRPr/>
          </a:p>
        </p:txBody>
      </p:sp>
      <p:sp>
        <p:nvSpPr>
          <p:cNvPr id="221" name="Google Shape;221;p37"/>
          <p:cNvSpPr txBox="1"/>
          <p:nvPr/>
        </p:nvSpPr>
        <p:spPr>
          <a:xfrm>
            <a:off x="5543800" y="337875"/>
            <a:ext cx="3012900" cy="6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y’all point out parallelism in the lesson?</a:t>
            </a:r>
            <a:endParaRPr/>
          </a:p>
        </p:txBody>
      </p:sp>
      <p:sp>
        <p:nvSpPr>
          <p:cNvPr id="227" name="Google Shape;22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Parallelism</a:t>
            </a:r>
            <a:endParaRPr/>
          </a:p>
        </p:txBody>
      </p:sp>
      <p:sp>
        <p:nvSpPr>
          <p:cNvPr id="233" name="Google Shape;23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 major problem with parallelism is that occasionally a </a:t>
            </a:r>
            <a:r>
              <a:rPr lang="en">
                <a:highlight>
                  <a:srgbClr val="F3F3F3"/>
                </a:highlight>
              </a:rPr>
              <a:t>computer will want to do something with an instruction that has not been resolved</a:t>
            </a:r>
            <a:r>
              <a:rPr lang="en"/>
              <a:t>. This means that the value is a variable and the value pointed to by </a:t>
            </a:r>
            <a:r>
              <a:rPr lang="en">
                <a:highlight>
                  <a:srgbClr val="F3F3F3"/>
                </a:highlight>
              </a:rPr>
              <a:t>a variable is not yet known to the computer because it is in memory or the cache. When this happens the computer needs to wait for the variable to be resolved.</a:t>
            </a:r>
            <a:endParaRPr>
              <a:highlight>
                <a:srgbClr val="F3F3F3"/>
              </a:highlight>
            </a:endParaRPr>
          </a:p>
          <a:p>
            <a:pPr indent="0" lvl="0" marL="0" rtl="0" algn="l">
              <a:spcBef>
                <a:spcPts val="1200"/>
              </a:spcBef>
              <a:spcAft>
                <a:spcPts val="1200"/>
              </a:spcAft>
              <a:buNone/>
            </a:pPr>
            <a:r>
              <a:rPr lang="en">
                <a:highlight>
                  <a:srgbClr val="F3F3F3"/>
                </a:highlight>
              </a:rPr>
              <a:t>Being able to predict which values need to be resolved and which aren’t is a necessity</a:t>
            </a:r>
            <a:r>
              <a:rPr lang="en"/>
              <a:t> for making parallelism fast because the instruction cycle needs to wait for circumvent itself in order to resolve the variable. An instruction cache is used to have instructions that can be done quickly on hand.</a:t>
            </a:r>
            <a:endParaRPr/>
          </a:p>
        </p:txBody>
      </p:sp>
      <p:sp>
        <p:nvSpPr>
          <p:cNvPr id="234" name="Google Shape;234;p39"/>
          <p:cNvSpPr txBox="1"/>
          <p:nvPr/>
        </p:nvSpPr>
        <p:spPr>
          <a:xfrm>
            <a:off x="5866600" y="359400"/>
            <a:ext cx="25503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Hazards</a:t>
            </a:r>
            <a:endParaRPr/>
          </a:p>
        </p:txBody>
      </p:sp>
      <p:sp>
        <p:nvSpPr>
          <p:cNvPr id="240" name="Google Shape;240;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Hazards are primarily </a:t>
            </a:r>
            <a:r>
              <a:rPr lang="en">
                <a:highlight>
                  <a:srgbClr val="F3F3F3"/>
                </a:highlight>
              </a:rPr>
              <a:t>a problem with parallelism </a:t>
            </a:r>
            <a:r>
              <a:rPr lang="en"/>
              <a:t>that involve a variable being read or written to when the value is not as it is intended. An example is a </a:t>
            </a:r>
            <a:r>
              <a:rPr lang="en">
                <a:highlight>
                  <a:srgbClr val="F3F3F3"/>
                </a:highlight>
              </a:rPr>
              <a:t>write after read</a:t>
            </a:r>
            <a:r>
              <a:rPr lang="en"/>
              <a:t> (WAR hazard) which occurs when a read that is supposed to read a value that will be written is read before and gives a value that is not correct. </a:t>
            </a:r>
            <a:endParaRPr/>
          </a:p>
          <a:p>
            <a:pPr indent="0" lvl="0" marL="0" rtl="0" algn="l">
              <a:spcBef>
                <a:spcPts val="1200"/>
              </a:spcBef>
              <a:spcAft>
                <a:spcPts val="1200"/>
              </a:spcAft>
              <a:buClr>
                <a:schemeClr val="dk1"/>
              </a:buClr>
              <a:buSzPts val="1100"/>
              <a:buFont typeface="Arial"/>
              <a:buNone/>
            </a:pPr>
            <a:r>
              <a:rPr lang="en"/>
              <a:t>A way to handle hazards is using </a:t>
            </a:r>
            <a:r>
              <a:rPr lang="en">
                <a:highlight>
                  <a:srgbClr val="F3F3F3"/>
                </a:highlight>
              </a:rPr>
              <a:t>a scoreboard or a reservation station.</a:t>
            </a:r>
            <a:r>
              <a:rPr lang="en"/>
              <a:t> A </a:t>
            </a:r>
            <a:r>
              <a:rPr lang="en">
                <a:highlight>
                  <a:srgbClr val="F3F3F3"/>
                </a:highlight>
              </a:rPr>
              <a:t>reservation station is not good for gpus however a scoreboard can be made to</a:t>
            </a:r>
            <a:r>
              <a:rPr lang="en"/>
              <a:t> (pg 54). </a:t>
            </a:r>
            <a:r>
              <a:rPr lang="en">
                <a:highlight>
                  <a:srgbClr val="F3F3F3"/>
                </a:highlight>
              </a:rPr>
              <a:t>A scoreboard in a cpu would assign single bit for each register and set the bit when a value is being written to it.</a:t>
            </a:r>
            <a:r>
              <a:rPr lang="en"/>
              <a:t> The register would only allow the register to be written/read from when the bit is not set. Modern scoreboards are 3 or 4 bits and block instructions from being put in the instruction cache to be scheduled at all. </a:t>
            </a:r>
            <a:endParaRPr/>
          </a:p>
        </p:txBody>
      </p:sp>
      <p:sp>
        <p:nvSpPr>
          <p:cNvPr id="241" name="Google Shape;241;p40"/>
          <p:cNvSpPr txBox="1"/>
          <p:nvPr/>
        </p:nvSpPr>
        <p:spPr>
          <a:xfrm>
            <a:off x="5597600" y="348650"/>
            <a:ext cx="2851500" cy="7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I-cache vs d-cache</a:t>
            </a:r>
            <a:endParaRPr/>
          </a:p>
        </p:txBody>
      </p:sp>
      <p:sp>
        <p:nvSpPr>
          <p:cNvPr id="247" name="Google Shape;247;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the L1 cache for cpus there is an i cache for instructions and a d-cache for data. The d-cache is a cache that yall are familiar with. The i-cache is responsible for instructions that can be run immediately by a cpu. </a:t>
            </a:r>
            <a:endParaRPr/>
          </a:p>
          <a:p>
            <a:pPr indent="0" lvl="0" marL="0" rtl="0" algn="l">
              <a:spcBef>
                <a:spcPts val="1200"/>
              </a:spcBef>
              <a:spcAft>
                <a:spcPts val="0"/>
              </a:spcAft>
              <a:buNone/>
            </a:pPr>
            <a:r>
              <a:rPr lang="en"/>
              <a:t>Instructions that require i/o or are reliant on variables that haven’t been modified yet need to wait but instructions that are just adding registers or numbers can be run immediately. These are but in the i-cache so that the cpu can pipeline itself effectively. </a:t>
            </a:r>
            <a:endParaRPr/>
          </a:p>
          <a:p>
            <a:pPr indent="0" lvl="0" marL="0" rtl="0" algn="l">
              <a:spcBef>
                <a:spcPts val="1200"/>
              </a:spcBef>
              <a:spcAft>
                <a:spcPts val="1200"/>
              </a:spcAft>
              <a:buNone/>
            </a:pPr>
            <a:r>
              <a:rPr lang="en"/>
              <a:t>Gpus run a similar system with their instruction caches. </a:t>
            </a:r>
            <a:endParaRPr/>
          </a:p>
        </p:txBody>
      </p:sp>
      <p:sp>
        <p:nvSpPr>
          <p:cNvPr id="248" name="Google Shape;248;p41"/>
          <p:cNvSpPr txBox="1"/>
          <p:nvPr/>
        </p:nvSpPr>
        <p:spPr>
          <a:xfrm>
            <a:off x="5393150" y="391675"/>
            <a:ext cx="2883900" cy="4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NIKESH</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Additional research	</a:t>
            </a:r>
            <a:endParaRPr/>
          </a:p>
        </p:txBody>
      </p:sp>
      <p:sp>
        <p:nvSpPr>
          <p:cNvPr id="254" name="Google Shape;254;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Should you want to look into gpus we first recommend looking at the textbook in certain sections. We also recommend that you first get a decent understanding of cpus, parallelism and threading before you start with looking at gpus.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gpu textbook has a lot of research portions.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